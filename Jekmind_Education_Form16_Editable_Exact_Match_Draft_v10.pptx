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d43e4200db48dc" /><Relationship Type="http://schemas.openxmlformats.org/officeDocument/2006/relationships/extended-properties" Target="/docProps/app.xml" Id="Rb67a0c1ead124677" /><Relationship Type="http://schemas.openxmlformats.org/officeDocument/2006/relationships/officeDocument" Target="/ppt/presentation.xml" Id="R12a77da6b99d4fb7" /></Relationships>
</file>

<file path=ppt/presentation.xml><?xml version="1.0" encoding="utf-8"?>
<p:presentation xmlns:p="http://schemas.openxmlformats.org/presentationml/2006/main">
  <p:sldMasterIdLst>
    <p:sldMasterId xmlns:r="http://schemas.openxmlformats.org/officeDocument/2006/relationships" id="2147483648" r:id="R7aa2e2d6c1c34223"/>
  </p:sldMasterIdLst>
  <p:notesMasterIdLst>
    <p:notesMasterId xmlns:r="http://schemas.openxmlformats.org/officeDocument/2006/relationships" r:id="Reff76afcd2694050"/>
  </p:notesMasterIdLst>
  <p:sldIdLst>
    <p:sldId xmlns:r="http://schemas.openxmlformats.org/officeDocument/2006/relationships" id="256" r:id="R4b36872dcc274794"/>
    <p:sldId xmlns:r="http://schemas.openxmlformats.org/officeDocument/2006/relationships" id="257" r:id="R6a61d61f77a844b6"/>
  </p:sldIdLst>
  <p:sldSz cx="7562850" cy="106965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d24dd8e58f4ad1" /><Relationship Type="http://schemas.openxmlformats.org/officeDocument/2006/relationships/slideMaster" Target="/ppt/slideMasters/slideMaster1.xml" Id="R7aa2e2d6c1c34223" /><Relationship Type="http://schemas.openxmlformats.org/officeDocument/2006/relationships/notesMaster" Target="/ppt/notesMasters/notesMaster1.xml" Id="Reff76afcd2694050" /><Relationship Type="http://schemas.openxmlformats.org/officeDocument/2006/relationships/presProps" Target="/ppt/presProps.xml" Id="R1f11bffbea424011" /><Relationship Type="http://schemas.openxmlformats.org/officeDocument/2006/relationships/tableStyles" Target="/ppt/tableStyles.xml" Id="R434747c0991f491e" /><Relationship Type="http://schemas.openxmlformats.org/officeDocument/2006/relationships/slide" Target="/ppt/slides/slide1.xml" Id="R4b36872dcc274794" /><Relationship Type="http://schemas.openxmlformats.org/officeDocument/2006/relationships/slide" Target="/ppt/slides/slide2.xml" Id="R6a61d61f77a844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86b497273a40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f6831322604be5" /><Relationship Type="http://schemas.openxmlformats.org/officeDocument/2006/relationships/notesMaster" Target="/ppt/notesMasters/notesMaster1.xml" Id="R9e392d3f63964a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9efca464714a7d" /><Relationship Type="http://schemas.openxmlformats.org/officeDocument/2006/relationships/notesMaster" Target="/ppt/notesMasters/notesMaster1.xml" Id="Rcfc420ba6ccc4c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Form 16 Part A draft. All text and table data are editable. This is not a TRACES-issued certificate and is not valid for tax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Form 16 Part A draft. All text and tables are editable. Logo and watermark artwork are images. This is not valid for tax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4d454c28d041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0760954bcf42f5" /><Relationship Type="http://schemas.openxmlformats.org/officeDocument/2006/relationships/slideLayout" Target="/ppt/slideLayouts/slideLayout1.xml" Id="Red1c22d973f74a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c22d973f74a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1360149d7944c7" /><Relationship Type="http://schemas.openxmlformats.org/officeDocument/2006/relationships/image" Target="/ppt/media/image.png" Id="Red504076ef744ecd" /><Relationship Type="http://schemas.openxmlformats.org/officeDocument/2006/relationships/image" Target="/ppt/media/image2.png" Id="R5864eaa066b642c1" /><Relationship Type="http://schemas.openxmlformats.org/officeDocument/2006/relationships/notesSlide" Target="/ppt/notesSlides/notesSlide1.xml" Id="R3c45275d5eb148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ee6e7195324109" /><Relationship Type="http://schemas.openxmlformats.org/officeDocument/2006/relationships/image" Target="/ppt/media/image3.png" Id="R3490f61c0fd04a8e" /><Relationship Type="http://schemas.openxmlformats.org/officeDocument/2006/relationships/notesSlide" Target="/ppt/notesSlides/notesSlide2.xml" Id="Re984a4df67b14bd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d504076ef744ecd"/>
          <a:stretch xmlns:a="http://schemas.openxmlformats.org/drawingml/2006/main"/>
        </p:blipFill>
        <p:spPr>
          <a:xfrm xmlns:a="http://schemas.openxmlformats.org/drawingml/2006/main">
            <a:off x="266700" y="162181"/>
            <a:ext cx="7029450" cy="647187"/>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864eaa066b642c1"/>
          <a:stretch xmlns:a="http://schemas.openxmlformats.org/drawingml/2006/main"/>
        </p:blipFill>
        <p:spPr>
          <a:xfrm xmlns:a="http://schemas.openxmlformats.org/drawingml/2006/main">
            <a:off x="1381125" y="4050792"/>
            <a:ext cx="4800600" cy="292836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11E230-4C2D-4E22-8EB6-9FC5A983F4C1}"/>
              </a:ext>
            </a:extLst>
          </p:cNvPr>
          <p:cNvSpPr>
            <a:spLocks xmlns:a="http://schemas.openxmlformats.org/drawingml/2006/main" noGrp="1"/>
          </p:cNvSpPr>
          <p:nvPr/>
        </p:nvSpPr>
        <p:spPr>
          <a:xfrm xmlns:a="http://schemas.openxmlformats.org/drawingml/2006/main" rot="0">
            <a:off x="6429375" y="1019175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r">
              <a:lnSpc>
                <a:spcPct val="100000"/>
              </a:lnSpc>
              <a:buNone/>
              <a:defRPr sz="750" b="0" i="0">
                <a:solidFill>
                  <a:srgbClr val="111111"/>
                </a:solidFill>
                <a:latin typeface="Times New Roman"/>
                <a:ea typeface="Times New Roman"/>
                <a:cs typeface="Times New Roman"/>
              </a:defRPr>
            </a:pPr>
            <a:r>
              <a:rPr sz="750" b="0" i="0">
                <a:solidFill>
                  <a:srgbClr val="111111"/>
                </a:solidFill>
                <a:latin typeface="Times New Roman"/>
                <a:ea typeface="Times New Roman"/>
                <a:cs typeface="Times New Roman"/>
              </a:rPr>
              <a:t>Page 1 of 2</a:t>
            </a:r>
          </a:p>
        </p:txBody>
      </p:sp>
      <p:sp>
        <p:nvSpPr>
          <p:cNvPr id="4" name="">
            <a:extLst xmlns:a="http://schemas.openxmlformats.org/drawingml/2006/main">
              <a:ext uri="{FF2B5EF4-FFF2-40B4-BE49-F238E27FC236}">
                <a16:creationId xmlns:a16="http://schemas.microsoft.com/office/drawing/2014/main" id="{12FCAC03-7231-4CB3-888B-42410CF8E09E}"/>
              </a:ext>
            </a:extLst>
          </p:cNvPr>
          <p:cNvSpPr>
            <a:spLocks xmlns:a="http://schemas.openxmlformats.org/drawingml/2006/main" noGrp="1"/>
          </p:cNvSpPr>
          <p:nvPr/>
        </p:nvSpPr>
        <p:spPr>
          <a:xfrm xmlns:a="http://schemas.openxmlformats.org/drawingml/2006/main" rot="0">
            <a:off x="1381125" y="10391775"/>
            <a:ext cx="4800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850" b="1" i="0">
                <a:solidFill>
                  <a:srgbClr val="B91C1C"/>
                </a:solidFill>
                <a:latin typeface="Arial"/>
                <a:ea typeface="Arial"/>
                <a:cs typeface="Arial"/>
              </a:defRPr>
            </a:pPr>
            <a:r>
              <a:rPr sz="850" b="1" i="0">
                <a:solidFill>
                  <a:srgbClr val="B91C1C"/>
                </a:solidFill>
                <a:latin typeface="Arial"/>
                <a:ea typeface="Arial"/>
                <a:cs typeface="Arial"/>
              </a:rPr>
              <a:t>ILLUSTRATIVE PREVIEW - NOT VALID FOR TAX USE OR SUBMISSION</a:t>
            </a:r>
          </a:p>
        </p:txBody>
      </p:sp>
      <p:sp>
        <p:nvSpPr>
          <p:cNvPr id="5" name="">
            <a:extLst xmlns:a="http://schemas.openxmlformats.org/drawingml/2006/main">
              <a:ext uri="{FF2B5EF4-FFF2-40B4-BE49-F238E27FC236}">
                <a16:creationId xmlns:a16="http://schemas.microsoft.com/office/drawing/2014/main" id="{DEA5E6E3-34FF-49A1-A195-0EF6F7456044}"/>
              </a:ext>
            </a:extLst>
          </p:cNvPr>
          <p:cNvSpPr>
            <a:spLocks xmlns:a="http://schemas.openxmlformats.org/drawingml/2006/main" noGrp="1"/>
          </p:cNvSpPr>
          <p:nvPr/>
        </p:nvSpPr>
        <p:spPr>
          <a:xfrm xmlns:a="http://schemas.openxmlformats.org/drawingml/2006/main">
            <a:off x="266700" y="885825"/>
            <a:ext cx="7029450" cy="257175"/>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6" name="">
            <a:extLst xmlns:a="http://schemas.openxmlformats.org/drawingml/2006/main">
              <a:ext uri="{FF2B5EF4-FFF2-40B4-BE49-F238E27FC236}">
                <a16:creationId xmlns:a16="http://schemas.microsoft.com/office/drawing/2014/main" id="{01941645-C9C0-43A7-88F2-5CAE2C285115}"/>
              </a:ext>
            </a:extLst>
          </p:cNvPr>
          <p:cNvSpPr>
            <a:spLocks xmlns:a="http://schemas.openxmlformats.org/drawingml/2006/main" noGrp="1"/>
          </p:cNvSpPr>
          <p:nvPr/>
        </p:nvSpPr>
        <p:spPr>
          <a:xfrm xmlns:a="http://schemas.openxmlformats.org/drawingml/2006/main" rot="0">
            <a:off x="266700" y="885825"/>
            <a:ext cx="702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1200" b="1" i="0">
                <a:solidFill>
                  <a:srgbClr val="111111"/>
                </a:solidFill>
                <a:latin typeface="Times New Roman"/>
                <a:ea typeface="Times New Roman"/>
                <a:cs typeface="Times New Roman"/>
              </a:defRPr>
            </a:pPr>
            <a:r>
              <a:rPr sz="1200" b="1" i="0">
                <a:solidFill>
                  <a:srgbClr val="111111"/>
                </a:solidFill>
                <a:latin typeface="Times New Roman"/>
                <a:ea typeface="Times New Roman"/>
                <a:cs typeface="Times New Roman"/>
              </a:rPr>
              <a:t>FORM NO. 16</a:t>
            </a:r>
          </a:p>
        </p:txBody>
      </p:sp>
      <p:sp>
        <p:nvSpPr>
          <p:cNvPr id="7" name="">
            <a:extLst xmlns:a="http://schemas.openxmlformats.org/drawingml/2006/main">
              <a:ext uri="{FF2B5EF4-FFF2-40B4-BE49-F238E27FC236}">
                <a16:creationId xmlns:a16="http://schemas.microsoft.com/office/drawing/2014/main" id="{BDA7D889-E54F-49D9-BA37-E280504DE6CC}"/>
              </a:ext>
            </a:extLst>
          </p:cNvPr>
          <p:cNvSpPr>
            <a:spLocks xmlns:a="http://schemas.openxmlformats.org/drawingml/2006/main" noGrp="1"/>
          </p:cNvSpPr>
          <p:nvPr/>
        </p:nvSpPr>
        <p:spPr>
          <a:xfrm xmlns:a="http://schemas.openxmlformats.org/drawingml/2006/main">
            <a:off x="266700" y="1143000"/>
            <a:ext cx="7029450" cy="257175"/>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8" name="">
            <a:extLst xmlns:a="http://schemas.openxmlformats.org/drawingml/2006/main">
              <a:ext uri="{FF2B5EF4-FFF2-40B4-BE49-F238E27FC236}">
                <a16:creationId xmlns:a16="http://schemas.microsoft.com/office/drawing/2014/main" id="{C287AB22-8273-406D-8B48-DD3075A9E88B}"/>
              </a:ext>
            </a:extLst>
          </p:cNvPr>
          <p:cNvSpPr>
            <a:spLocks xmlns:a="http://schemas.openxmlformats.org/drawingml/2006/main" noGrp="1"/>
          </p:cNvSpPr>
          <p:nvPr/>
        </p:nvSpPr>
        <p:spPr>
          <a:xfrm xmlns:a="http://schemas.openxmlformats.org/drawingml/2006/main" rot="0">
            <a:off x="266700" y="1143000"/>
            <a:ext cx="702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800" b="0" i="0">
                <a:solidFill>
                  <a:srgbClr val="111111"/>
                </a:solidFill>
                <a:latin typeface="Times New Roman"/>
                <a:ea typeface="Times New Roman"/>
                <a:cs typeface="Times New Roman"/>
              </a:defRPr>
            </a:pPr>
            <a:r>
              <a:rPr sz="800" b="0" i="0">
                <a:solidFill>
                  <a:srgbClr val="111111"/>
                </a:solidFill>
                <a:latin typeface="Times New Roman"/>
                <a:ea typeface="Times New Roman"/>
                <a:cs typeface="Times New Roman"/>
              </a:rPr>
              <a:t>[See rule 31(1)(a)]</a:t>
            </a:r>
          </a:p>
        </p:txBody>
      </p:sp>
      <p:sp>
        <p:nvSpPr>
          <p:cNvPr id="9" name="">
            <a:extLst xmlns:a="http://schemas.openxmlformats.org/drawingml/2006/main">
              <a:ext uri="{FF2B5EF4-FFF2-40B4-BE49-F238E27FC236}">
                <a16:creationId xmlns:a16="http://schemas.microsoft.com/office/drawing/2014/main" id="{C20BF090-A36C-4975-AAE4-0C3858D33A2C}"/>
              </a:ext>
            </a:extLst>
          </p:cNvPr>
          <p:cNvSpPr>
            <a:spLocks xmlns:a="http://schemas.openxmlformats.org/drawingml/2006/main" noGrp="1"/>
          </p:cNvSpPr>
          <p:nvPr/>
        </p:nvSpPr>
        <p:spPr>
          <a:xfrm xmlns:a="http://schemas.openxmlformats.org/drawingml/2006/main">
            <a:off x="266700" y="1400175"/>
            <a:ext cx="7029450" cy="257175"/>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10" name="">
            <a:extLst xmlns:a="http://schemas.openxmlformats.org/drawingml/2006/main">
              <a:ext uri="{FF2B5EF4-FFF2-40B4-BE49-F238E27FC236}">
                <a16:creationId xmlns:a16="http://schemas.microsoft.com/office/drawing/2014/main" id="{41647BAB-73F6-4D47-BBD1-0DB333C85DC9}"/>
              </a:ext>
            </a:extLst>
          </p:cNvPr>
          <p:cNvSpPr>
            <a:spLocks xmlns:a="http://schemas.openxmlformats.org/drawingml/2006/main" noGrp="1"/>
          </p:cNvSpPr>
          <p:nvPr/>
        </p:nvSpPr>
        <p:spPr>
          <a:xfrm xmlns:a="http://schemas.openxmlformats.org/drawingml/2006/main" rot="0">
            <a:off x="266700" y="1400175"/>
            <a:ext cx="702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1200" b="1" i="0">
                <a:solidFill>
                  <a:srgbClr val="111111"/>
                </a:solidFill>
                <a:latin typeface="Times New Roman"/>
                <a:ea typeface="Times New Roman"/>
                <a:cs typeface="Times New Roman"/>
              </a:defRPr>
            </a:pPr>
            <a:r>
              <a:rPr sz="1200" b="1" i="0">
                <a:solidFill>
                  <a:srgbClr val="111111"/>
                </a:solidFill>
                <a:latin typeface="Times New Roman"/>
                <a:ea typeface="Times New Roman"/>
                <a:cs typeface="Times New Roman"/>
              </a:rPr>
              <a:t>PART A</a:t>
            </a:r>
          </a:p>
        </p:txBody>
      </p:sp>
      <p:sp>
        <p:nvSpPr>
          <p:cNvPr id="11" name="">
            <a:extLst xmlns:a="http://schemas.openxmlformats.org/drawingml/2006/main">
              <a:ext uri="{FF2B5EF4-FFF2-40B4-BE49-F238E27FC236}">
                <a16:creationId xmlns:a16="http://schemas.microsoft.com/office/drawing/2014/main" id="{F9F180DF-95E1-4505-9BF1-913B02ACF3CE}"/>
              </a:ext>
            </a:extLst>
          </p:cNvPr>
          <p:cNvSpPr>
            <a:spLocks xmlns:a="http://schemas.openxmlformats.org/drawingml/2006/main" noGrp="1"/>
          </p:cNvSpPr>
          <p:nvPr/>
        </p:nvSpPr>
        <p:spPr>
          <a:xfrm xmlns:a="http://schemas.openxmlformats.org/drawingml/2006/main">
            <a:off x="266700" y="1657350"/>
            <a:ext cx="7029450" cy="295275"/>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12" name="">
            <a:extLst xmlns:a="http://schemas.openxmlformats.org/drawingml/2006/main">
              <a:ext uri="{FF2B5EF4-FFF2-40B4-BE49-F238E27FC236}">
                <a16:creationId xmlns:a16="http://schemas.microsoft.com/office/drawing/2014/main" id="{CF59F829-71B9-45AD-A82F-DC2EA39CB9BB}"/>
              </a:ext>
            </a:extLst>
          </p:cNvPr>
          <p:cNvSpPr>
            <a:spLocks xmlns:a="http://schemas.openxmlformats.org/drawingml/2006/main" noGrp="1"/>
          </p:cNvSpPr>
          <p:nvPr/>
        </p:nvSpPr>
        <p:spPr>
          <a:xfrm xmlns:a="http://schemas.openxmlformats.org/drawingml/2006/main" rot="0">
            <a:off x="314325" y="1666875"/>
            <a:ext cx="693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800" b="1" i="0">
                <a:solidFill>
                  <a:srgbClr val="111111"/>
                </a:solidFill>
                <a:latin typeface="Times New Roman"/>
                <a:ea typeface="Times New Roman"/>
                <a:cs typeface="Times New Roman"/>
              </a:defRPr>
            </a:pPr>
            <a:r>
              <a:rPr sz="800" b="1" i="0">
                <a:solidFill>
                  <a:srgbClr val="111111"/>
                </a:solidFill>
                <a:latin typeface="Times New Roman"/>
                <a:ea typeface="Times New Roman"/>
                <a:cs typeface="Times New Roman"/>
              </a:rPr>
              <a:t>Certificate under Section 203 of the Income-tax Act, 1961 for tax deducted at source on salary paid to an employee under section 192 or pension/interest income of specified senior citizen under section 194P</a:t>
            </a:r>
          </a:p>
        </p:txBody>
      </p:sp>
      <p:sp>
        <p:nvSpPr>
          <p:cNvPr id="13" name="">
            <a:extLst xmlns:a="http://schemas.openxmlformats.org/drawingml/2006/main">
              <a:ext uri="{FF2B5EF4-FFF2-40B4-BE49-F238E27FC236}">
                <a16:creationId xmlns:a16="http://schemas.microsoft.com/office/drawing/2014/main" id="{C897E4C0-458C-47EE-90D4-95376E0A888C}"/>
              </a:ext>
            </a:extLst>
          </p:cNvPr>
          <p:cNvSpPr>
            <a:spLocks xmlns:a="http://schemas.openxmlformats.org/drawingml/2006/main" noGrp="1"/>
          </p:cNvSpPr>
          <p:nvPr/>
        </p:nvSpPr>
        <p:spPr>
          <a:xfrm xmlns:a="http://schemas.openxmlformats.org/drawingml/2006/main">
            <a:off x="266700" y="1952625"/>
            <a:ext cx="7029450" cy="257175"/>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14" name="">
            <a:extLst xmlns:a="http://schemas.openxmlformats.org/drawingml/2006/main">
              <a:ext uri="{FF2B5EF4-FFF2-40B4-BE49-F238E27FC236}">
                <a16:creationId xmlns:a16="http://schemas.microsoft.com/office/drawing/2014/main" id="{EF1F78CE-7625-4CFC-96F4-7B699B5887F5}"/>
              </a:ext>
            </a:extLst>
          </p:cNvPr>
          <p:cNvSpPr>
            <a:spLocks xmlns:a="http://schemas.openxmlformats.org/drawingml/2006/main" noGrp="1"/>
          </p:cNvSpPr>
          <p:nvPr/>
        </p:nvSpPr>
        <p:spPr>
          <a:xfrm xmlns:a="http://schemas.openxmlformats.org/drawingml/2006/main">
            <a:off x="4095750" y="1952625"/>
            <a:ext cx="0" cy="257175"/>
          </a:xfrm>
          <a:prstGeom xmlns:a="http://schemas.openxmlformats.org/drawingml/2006/main" prst="line">
            <a:avLst/>
          </a:prstGeom>
          <a:noFill xmlns:a="http://schemas.openxmlformats.org/drawingml/2006/main"/>
          <a:ln xmlns:a="http://schemas.openxmlformats.org/drawingml/2006/main" w="8573">
            <a:solidFill>
              <a:srgbClr val="111111"/>
            </a:solidFill>
            <a:prstDash val="solid"/>
          </a:ln>
        </p:spPr>
      </p:sp>
      <p:sp>
        <p:nvSpPr>
          <p:cNvPr id="15" name="">
            <a:extLst xmlns:a="http://schemas.openxmlformats.org/drawingml/2006/main">
              <a:ext uri="{FF2B5EF4-FFF2-40B4-BE49-F238E27FC236}">
                <a16:creationId xmlns:a16="http://schemas.microsoft.com/office/drawing/2014/main" id="{913EE656-3E25-4B4C-BA2D-50559A05146A}"/>
              </a:ext>
            </a:extLst>
          </p:cNvPr>
          <p:cNvSpPr>
            <a:spLocks xmlns:a="http://schemas.openxmlformats.org/drawingml/2006/main" noGrp="1"/>
          </p:cNvSpPr>
          <p:nvPr/>
        </p:nvSpPr>
        <p:spPr>
          <a:xfrm xmlns:a="http://schemas.openxmlformats.org/drawingml/2006/main" rot="0">
            <a:off x="304800" y="1952625"/>
            <a:ext cx="838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l">
              <a:lnSpc>
                <a:spcPct val="100000"/>
              </a:lnSpc>
              <a:buNone/>
              <a:defRPr sz="850" b="0" i="0">
                <a:solidFill>
                  <a:srgbClr val="111111"/>
                </a:solidFill>
                <a:latin typeface="Times New Roman"/>
                <a:ea typeface="Times New Roman"/>
                <a:cs typeface="Times New Roman"/>
              </a:defRPr>
            </a:pPr>
            <a:r>
              <a:rPr sz="850" b="0" i="0">
                <a:solidFill>
                  <a:srgbClr val="111111"/>
                </a:solidFill>
                <a:latin typeface="Times New Roman"/>
                <a:ea typeface="Times New Roman"/>
                <a:cs typeface="Times New Roman"/>
              </a:rPr>
              <a:t>Certificate No.</a:t>
            </a:r>
          </a:p>
        </p:txBody>
      </p:sp>
      <p:sp>
        <p:nvSpPr>
          <p:cNvPr id="16" name="">
            <a:extLst xmlns:a="http://schemas.openxmlformats.org/drawingml/2006/main">
              <a:ext uri="{FF2B5EF4-FFF2-40B4-BE49-F238E27FC236}">
                <a16:creationId xmlns:a16="http://schemas.microsoft.com/office/drawing/2014/main" id="{1EEEC0E3-7310-47DA-9ACD-E9E45A450A53}"/>
              </a:ext>
            </a:extLst>
          </p:cNvPr>
          <p:cNvSpPr>
            <a:spLocks xmlns:a="http://schemas.openxmlformats.org/drawingml/2006/main" noGrp="1"/>
          </p:cNvSpPr>
          <p:nvPr/>
        </p:nvSpPr>
        <p:spPr>
          <a:xfrm xmlns:a="http://schemas.openxmlformats.org/drawingml/2006/main" rot="0">
            <a:off x="1162050" y="195262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l">
              <a:lnSpc>
                <a:spcPct val="100000"/>
              </a:lnSpc>
              <a:buNone/>
              <a:defRPr sz="950" b="1" i="0">
                <a:solidFill>
                  <a:srgbClr val="111111"/>
                </a:solidFill>
                <a:latin typeface="Times New Roman"/>
                <a:ea typeface="Times New Roman"/>
                <a:cs typeface="Times New Roman"/>
              </a:defRPr>
            </a:pPr>
            <a:r>
              <a:rPr sz="950" b="1" i="0">
                <a:solidFill>
                  <a:srgbClr val="111111"/>
                </a:solidFill>
                <a:latin typeface="Times New Roman"/>
                <a:ea typeface="Times New Roman"/>
                <a:cs typeface="Times New Roman"/>
              </a:rPr>
              <a:t>JKMNDCB</a:t>
            </a:r>
          </a:p>
        </p:txBody>
      </p:sp>
      <p:sp>
        <p:nvSpPr>
          <p:cNvPr id="17" name="">
            <a:extLst xmlns:a="http://schemas.openxmlformats.org/drawingml/2006/main">
              <a:ext uri="{FF2B5EF4-FFF2-40B4-BE49-F238E27FC236}">
                <a16:creationId xmlns:a16="http://schemas.microsoft.com/office/drawing/2014/main" id="{EDB2F9F5-4706-4E5C-9212-32A4B3D3A4CB}"/>
              </a:ext>
            </a:extLst>
          </p:cNvPr>
          <p:cNvSpPr>
            <a:spLocks xmlns:a="http://schemas.openxmlformats.org/drawingml/2006/main" noGrp="1"/>
          </p:cNvSpPr>
          <p:nvPr/>
        </p:nvSpPr>
        <p:spPr>
          <a:xfrm xmlns:a="http://schemas.openxmlformats.org/drawingml/2006/main" rot="0">
            <a:off x="5381625" y="1952625"/>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r">
              <a:lnSpc>
                <a:spcPct val="100000"/>
              </a:lnSpc>
              <a:buNone/>
              <a:defRPr sz="820" b="0" i="0">
                <a:solidFill>
                  <a:srgbClr val="111111"/>
                </a:solidFill>
                <a:latin typeface="Times New Roman"/>
                <a:ea typeface="Times New Roman"/>
                <a:cs typeface="Times New Roman"/>
              </a:defRPr>
            </a:pPr>
            <a:r>
              <a:rPr sz="820" b="0" i="0">
                <a:solidFill>
                  <a:srgbClr val="111111"/>
                </a:solidFill>
                <a:latin typeface="Times New Roman"/>
                <a:ea typeface="Times New Roman"/>
                <a:cs typeface="Times New Roman"/>
              </a:rPr>
              <a:t>Last updated on</a:t>
            </a:r>
          </a:p>
        </p:txBody>
      </p:sp>
      <p:sp>
        <p:nvSpPr>
          <p:cNvPr id="18" name="">
            <a:extLst xmlns:a="http://schemas.openxmlformats.org/drawingml/2006/main">
              <a:ext uri="{FF2B5EF4-FFF2-40B4-BE49-F238E27FC236}">
                <a16:creationId xmlns:a16="http://schemas.microsoft.com/office/drawing/2014/main" id="{85B73D0B-1FF2-4985-B995-47B46AE2B69E}"/>
              </a:ext>
            </a:extLst>
          </p:cNvPr>
          <p:cNvSpPr>
            <a:spLocks xmlns:a="http://schemas.openxmlformats.org/drawingml/2006/main" noGrp="1"/>
          </p:cNvSpPr>
          <p:nvPr/>
        </p:nvSpPr>
        <p:spPr>
          <a:xfrm xmlns:a="http://schemas.openxmlformats.org/drawingml/2006/main" rot="0">
            <a:off x="6267450" y="1952625"/>
            <a:ext cx="100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r">
              <a:lnSpc>
                <a:spcPct val="100000"/>
              </a:lnSpc>
              <a:buNone/>
              <a:defRPr sz="800" b="0" i="0">
                <a:solidFill>
                  <a:srgbClr val="111111"/>
                </a:solidFill>
                <a:latin typeface="Times New Roman"/>
                <a:ea typeface="Times New Roman"/>
                <a:cs typeface="Times New Roman"/>
              </a:defRPr>
            </a:pPr>
            <a:r>
              <a:rPr sz="800" b="0" i="0">
                <a:solidFill>
                  <a:srgbClr val="111111"/>
                </a:solidFill>
                <a:latin typeface="Times New Roman"/>
                <a:ea typeface="Times New Roman"/>
                <a:cs typeface="Times New Roman"/>
              </a:rPr>
              <a:t>DRAFT 27-SEP-2026</a:t>
            </a:r>
          </a:p>
        </p:txBody>
      </p:sp>
      <p:graphicFrame>
        <p:nvGraphicFramePr>
          <p:cNvPr id="51" name=""/>
          <p:cNvGraphicFramePr/>
          <p:nvPr/>
        </p:nvGraphicFramePr>
        <p:xfrm>
          <a:off xmlns:a="http://schemas.openxmlformats.org/drawingml/2006/main" x="266700" y="2209800"/>
          <a:ext xmlns:a="http://schemas.openxmlformats.org/drawingml/2006/main" cx="7029450" cy="1905000"/>
        </p:xfrm>
        <a:graphic xmlns:a="http://schemas.openxmlformats.org/drawingml/2006/main">
          <a:graphicData uri="http://schemas.openxmlformats.org/drawingml/2006/table">
            <a:tbl>
              <a:tblPr/>
              <a:tblGrid>
                <a:gridCol w="1905000"/>
                <a:gridCol w="1647825"/>
                <a:gridCol w="1323975"/>
                <a:gridCol w="2152650"/>
              </a:tblGrid>
              <a:tr h="257175">
                <a:tc gridSpan="2">
                  <a:txBody>
                    <a:bodyPr wrap="square" lIns="19050" tIns="9525" rIns="19050" bIns="9525">
                      <a:normAutofit/>
                    </a:bodyPr>
                    <a:lstStyle/>
                    <a:p>
                      <a:pPr algn="ctr"/>
                      <a:r>
                        <a:rPr sz="800" b="1">
                          <a:solidFill>
                            <a:srgbClr val="111111"/>
                          </a:solidFill>
                          <a:latin typeface="Times New Roman"/>
                          <a:ea typeface="Times New Roman"/>
                          <a:cs typeface="Times New Roman"/>
                        </a:rPr>
                        <a:t>Name and address of the Employer/Specified Bank</a:t>
                      </a:r>
                    </a:p>
                  </a:txBody>
                  <a:tcPr marL="19050" marR="19050" marT="0" marB="0" anchor="ctr"/>
                </a:tc>
                <a:tc hMerge="1">
                  <a:txBody>
                    <a:bodyPr wrap="square" lIns="19050" tIns="9525" rIns="19050" bIns="9525">
                      <a:normAutofit/>
                    </a:bodyPr>
                    <a:lstStyle/>
                    <a:p>
                      <a:r>
                        <a:rPr sz="800">
                          <a:solidFill>
                            <a:srgbClr val="111111"/>
                          </a:solidFill>
                          <a:latin typeface="Times New Roman"/>
                          <a:ea typeface="Times New Roman"/>
                          <a:cs typeface="Times New Roman"/>
                        </a:rPr>
                        <a:t/>
                      </a:r>
                    </a:p>
                  </a:txBody>
                  <a:tcPr marL="19050" marR="19050" marT="0" marB="0" anchor="ctr"/>
                </a:tc>
                <a:tc gridSpan="2">
                  <a:txBody>
                    <a:bodyPr wrap="square" lIns="19050" tIns="9525" rIns="19050" bIns="9525">
                      <a:normAutofit/>
                    </a:bodyPr>
                    <a:lstStyle/>
                    <a:p>
                      <a:pPr algn="ctr"/>
                      <a:r>
                        <a:rPr sz="800" b="1">
                          <a:solidFill>
                            <a:srgbClr val="111111"/>
                          </a:solidFill>
                          <a:latin typeface="Times New Roman"/>
                          <a:ea typeface="Times New Roman"/>
                          <a:cs typeface="Times New Roman"/>
                        </a:rPr>
                        <a:t>Name and address of the Employee/Specified senior citizen</a:t>
                      </a:r>
                    </a:p>
                  </a:txBody>
                  <a:tcPr marL="19050" marR="19050" marT="0" marB="0" anchor="ctr"/>
                </a:tc>
                <a:tc hMerge="1">
                  <a:txBody>
                    <a:bodyPr wrap="square" lIns="19050" tIns="9525" rIns="19050" bIns="9525">
                      <a:normAutofit/>
                    </a:bodyPr>
                    <a:lstStyle/>
                    <a:p>
                      <a:r>
                        <a:rPr sz="800">
                          <a:solidFill>
                            <a:srgbClr val="111111"/>
                          </a:solidFill>
                          <a:latin typeface="Times New Roman"/>
                          <a:ea typeface="Times New Roman"/>
                          <a:cs typeface="Times New Roman"/>
                        </a:rPr>
                        <a:t/>
                      </a:r>
                    </a:p>
                  </a:txBody>
                  <a:tcPr marL="19050" marR="19050" marT="0" marB="0" anchor="ctr"/>
                </a:tc>
              </a:tr>
              <a:tr h="895350">
                <a:tc gridSpan="2">
                  <a:txBody>
                    <a:bodyPr wrap="square" lIns="171450" tIns="19050" rIns="38100" bIns="19050">
                      <a:normAutofit/>
                    </a:bodyPr>
                    <a:lstStyle/>
                    <a:p>
                      <a:pPr algn="l"/>
                      <a:r>
                        <a:rPr sz="800">
                          <a:solidFill>
                            <a:srgbClr val="111111"/>
                          </a:solidFill>
                          <a:latin typeface="Times New Roman"/>
                          <a:ea typeface="Times New Roman"/>
                          <a:cs typeface="Times New Roman"/>
                        </a:rPr>
                        <a:t>JEKMIND EDUCATION</a:t>
                      </a:r>
                    </a:p>
                    <a:p>
                      <a:pPr algn="l"/>
                      <a:r>
                        <a:rPr sz="800">
                          <a:solidFill>
                            <a:srgbClr val="111111"/>
                          </a:solidFill>
                          <a:latin typeface="Times New Roman"/>
                          <a:ea typeface="Times New Roman"/>
                          <a:cs typeface="Times New Roman"/>
                        </a:rPr>
                        <a:t>94/07 MADHYAM MARG, VIJAY PATH CHOURAHA,</a:t>
                      </a:r>
                    </a:p>
                    <a:p>
                      <a:pPr algn="l"/>
                      <a:r>
                        <a:rPr sz="800">
                          <a:solidFill>
                            <a:srgbClr val="111111"/>
                          </a:solidFill>
                          <a:latin typeface="Times New Roman"/>
                          <a:ea typeface="Times New Roman"/>
                          <a:cs typeface="Times New Roman"/>
                        </a:rPr>
                        <a:t>MANSAROVAR, JAIPUR - 302020</a:t>
                      </a:r>
                    </a:p>
                    <a:p>
                      <a:pPr algn="l"/>
                      <a:r>
                        <a:rPr sz="800">
                          <a:solidFill>
                            <a:srgbClr val="111111"/>
                          </a:solidFill>
                          <a:latin typeface="Times New Roman"/>
                          <a:ea typeface="Times New Roman"/>
                          <a:cs typeface="Times New Roman"/>
                        </a:rPr>
                        <a:t>PAYMENTS@JEKMINDEDUCATION.COM</a:t>
                      </a:r>
                    </a:p>
                  </a:txBody>
                  <a:tcPr marL="171450" marR="38100" marT="19050" marB="19050" anchor="ctr"/>
                </a:tc>
                <a:tc hMerge="1">
                  <a:txBody>
                    <a:bodyPr wrap="square" lIns="19050" tIns="9525" rIns="19050" bIns="9525">
                      <a:normAutofit/>
                    </a:bodyPr>
                    <a:lstStyle/>
                    <a:p>
                      <a:r>
                        <a:rPr sz="800">
                          <a:solidFill>
                            <a:srgbClr val="111111"/>
                          </a:solidFill>
                          <a:latin typeface="Times New Roman"/>
                          <a:ea typeface="Times New Roman"/>
                          <a:cs typeface="Times New Roman"/>
                        </a:rPr>
                        <a:t/>
                      </a:r>
                    </a:p>
                  </a:txBody>
                  <a:tcPr marL="19050" marR="19050" marT="0" marB="0" anchor="ctr"/>
                </a:tc>
                <a:tc gridSpan="2">
                  <a:txBody>
                    <a:bodyPr wrap="square" lIns="171450" tIns="19050" rIns="38100" bIns="19050">
                      <a:normAutofit/>
                    </a:bodyPr>
                    <a:lstStyle/>
                    <a:p>
                      <a:pPr algn="l"/>
                      <a:r>
                        <a:rPr sz="800">
                          <a:solidFill>
                            <a:srgbClr val="111111"/>
                          </a:solidFill>
                          <a:latin typeface="Times New Roman"/>
                          <a:ea typeface="Times New Roman"/>
                          <a:cs typeface="Times New Roman"/>
                        </a:rPr>
                        <a:t>CHANDRAPRAKASH BOPCHE</a:t>
                      </a:r>
                    </a:p>
                    <a:p>
                      <a:pPr algn="l"/>
                      <a:r>
                        <a:rPr sz="800">
                          <a:solidFill>
                            <a:srgbClr val="111111"/>
                          </a:solidFill>
                          <a:latin typeface="Times New Roman"/>
                          <a:ea typeface="Times New Roman"/>
                          <a:cs typeface="Times New Roman"/>
                        </a:rPr>
                        <a:t>WARD NO. 08, SITAKHOH, KATANGI,</a:t>
                      </a:r>
                    </a:p>
                    <a:p>
                      <a:pPr algn="l"/>
                      <a:r>
                        <a:rPr sz="800">
                          <a:solidFill>
                            <a:srgbClr val="111111"/>
                          </a:solidFill>
                          <a:latin typeface="Times New Roman"/>
                          <a:ea typeface="Times New Roman"/>
                          <a:cs typeface="Times New Roman"/>
                        </a:rPr>
                        <a:t>BALAGHAT, MADHYA PRADESH</a:t>
                      </a:r>
                    </a:p>
                  </a:txBody>
                  <a:tcPr marL="171450" marR="38100" marT="19050" marB="19050" anchor="ctr"/>
                </a:tc>
                <a:tc hMerge="1">
                  <a:txBody>
                    <a:bodyPr wrap="square" lIns="19050" tIns="9525" rIns="19050" bIns="9525">
                      <a:normAutofit/>
                    </a:bodyPr>
                    <a:lstStyle/>
                    <a:p>
                      <a:r>
                        <a:rPr sz="800">
                          <a:solidFill>
                            <a:srgbClr val="111111"/>
                          </a:solidFill>
                          <a:latin typeface="Times New Roman"/>
                          <a:ea typeface="Times New Roman"/>
                          <a:cs typeface="Times New Roman"/>
                        </a:rPr>
                        <a:t/>
                      </a:r>
                    </a:p>
                  </a:txBody>
                  <a:tcPr marL="19050" marR="19050" marT="0" marB="0" anchor="ctr"/>
                </a:tc>
              </a:tr>
              <a:tr h="504825">
                <a:tc>
                  <a:txBody>
                    <a:bodyPr wrap="square" lIns="28575" tIns="9525" rIns="28575" bIns="9525">
                      <a:normAutofit/>
                    </a:bodyPr>
                    <a:lstStyle/>
                    <a:p>
                      <a:pPr algn="ctr"/>
                      <a:r>
                        <a:rPr sz="800" b="1">
                          <a:solidFill>
                            <a:srgbClr val="111111"/>
                          </a:solidFill>
                          <a:latin typeface="Times New Roman"/>
                          <a:ea typeface="Times New Roman"/>
                          <a:cs typeface="Times New Roman"/>
                        </a:rPr>
                        <a:t>PAN of the Deductor</a:t>
                      </a:r>
                    </a:p>
                  </a:txBody>
                  <a:tcPr marL="19050" marR="19050" marT="0" marB="0" anchor="ctr"/>
                </a:tc>
                <a:tc>
                  <a:txBody>
                    <a:bodyPr wrap="square" lIns="28575" tIns="9525" rIns="28575" bIns="9525">
                      <a:normAutofit/>
                    </a:bodyPr>
                    <a:lstStyle/>
                    <a:p>
                      <a:pPr algn="ctr"/>
                      <a:r>
                        <a:rPr sz="800" b="1">
                          <a:solidFill>
                            <a:srgbClr val="111111"/>
                          </a:solidFill>
                          <a:latin typeface="Times New Roman"/>
                          <a:ea typeface="Times New Roman"/>
                          <a:cs typeface="Times New Roman"/>
                        </a:rPr>
                        <a:t>TAN of the Deductor</a:t>
                      </a:r>
                    </a:p>
                  </a:txBody>
                  <a:tcPr marL="19050" marR="19050" marT="0" marB="0" anchor="ctr"/>
                </a:tc>
                <a:tc>
                  <a:txBody>
                    <a:bodyPr wrap="square" lIns="28575" tIns="9525" rIns="28575" bIns="9525">
                      <a:normAutofit/>
                    </a:bodyPr>
                    <a:lstStyle/>
                    <a:p>
                      <a:pPr algn="l"/>
                      <a:r>
                        <a:rPr sz="800" b="1">
                          <a:solidFill>
                            <a:srgbClr val="111111"/>
                          </a:solidFill>
                          <a:latin typeface="Times New Roman"/>
                          <a:ea typeface="Times New Roman"/>
                          <a:cs typeface="Times New Roman"/>
                        </a:rPr>
                        <a:t>PAN of the Employee/Specified senior citizen</a:t>
                      </a:r>
                    </a:p>
                  </a:txBody>
                  <a:tcPr marL="19050" marR="19050" marT="0" marB="0" anchor="ctr"/>
                </a:tc>
                <a:tc>
                  <a:txBody>
                    <a:bodyPr wrap="square" lIns="28575" tIns="9525" rIns="28575" bIns="9525">
                      <a:normAutofit/>
                    </a:bodyPr>
                    <a:lstStyle/>
                    <a:p>
                      <a:pPr algn="l"/>
                      <a:r>
                        <a:rPr sz="800" b="1">
                          <a:solidFill>
                            <a:srgbClr val="111111"/>
                          </a:solidFill>
                          <a:latin typeface="Times New Roman"/>
                          <a:ea typeface="Times New Roman"/>
                          <a:cs typeface="Times New Roman"/>
                        </a:rPr>
                        <a:t>Employee Reference No. provided by the Employer/Pension Payment order no. provided by the Employer (If available)</a:t>
                      </a:r>
                    </a:p>
                  </a:txBody>
                  <a:tcPr marL="19050" marR="19050" marT="0" marB="0" anchor="ctr"/>
                </a:tc>
              </a:tr>
              <a:tr h="247650">
                <a:tc>
                  <a:txBody>
                    <a:bodyPr wrap="square" lIns="19050" tIns="9525" rIns="19050" bIns="9525">
                      <a:normAutofit/>
                    </a:bodyPr>
                    <a:lstStyle/>
                    <a:p>
                      <a:pPr algn="ctr"/>
                      <a:r>
                        <a:rPr sz="800">
                          <a:solidFill>
                            <a:srgbClr val="111111"/>
                          </a:solidFill>
                          <a:latin typeface="Times New Roman"/>
                          <a:ea typeface="Times New Roman"/>
                          <a:cs typeface="Times New Roman"/>
                        </a:rPr>
                        <a:t>GIRPP7154R</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JIRPB25657M</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CZJPB5424R</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TO BE PROVIDED</a:t>
                      </a:r>
                    </a:p>
                  </a:txBody>
                  <a:tcPr marL="19050" marR="19050" marT="0" marB="0" anchor="ctr"/>
                </a:tc>
              </a:tr>
            </a:tbl>
          </a:graphicData>
        </a:graphic>
      </p:graphicFrame>
      <p:graphicFrame>
        <p:nvGraphicFramePr>
          <p:cNvPr id="52" name=""/>
          <p:cNvGraphicFramePr/>
          <p:nvPr/>
        </p:nvGraphicFramePr>
        <p:xfrm>
          <a:off xmlns:a="http://schemas.openxmlformats.org/drawingml/2006/main" x="266700" y="4114800"/>
          <a:ext xmlns:a="http://schemas.openxmlformats.org/drawingml/2006/main" cx="7029450" cy="885825"/>
        </p:xfrm>
        <a:graphic xmlns:a="http://schemas.openxmlformats.org/drawingml/2006/main">
          <a:graphicData uri="http://schemas.openxmlformats.org/drawingml/2006/table">
            <a:tbl>
              <a:tblPr/>
              <a:tblGrid>
                <a:gridCol w="3552825"/>
                <a:gridCol w="1714500"/>
                <a:gridCol w="885825"/>
                <a:gridCol w="876300"/>
              </a:tblGrid>
              <a:tr h="257175">
                <a:tc>
                  <a:txBody>
                    <a:bodyPr wrap="square" lIns="19050" tIns="9525" rIns="19050" bIns="9525">
                      <a:normAutofit/>
                    </a:bodyPr>
                    <a:lstStyle/>
                    <a:p>
                      <a:pPr algn="ctr"/>
                      <a:r>
                        <a:rPr sz="800" b="1">
                          <a:solidFill>
                            <a:srgbClr val="111111"/>
                          </a:solidFill>
                          <a:latin typeface="Times New Roman"/>
                          <a:ea typeface="Times New Roman"/>
                          <a:cs typeface="Times New Roman"/>
                        </a:rPr>
                        <a:t>CIT (TDS)</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Assessment Year</a:t>
                      </a:r>
                    </a:p>
                  </a:txBody>
                  <a:tcPr marL="19050" marR="19050" marT="0" marB="0" anchor="ctr"/>
                </a:tc>
                <a:tc gridSpan="2">
                  <a:txBody>
                    <a:bodyPr wrap="square" lIns="19050" tIns="9525" rIns="19050" bIns="9525">
                      <a:normAutofit/>
                    </a:bodyPr>
                    <a:lstStyle/>
                    <a:p>
                      <a:pPr algn="ctr"/>
                      <a:r>
                        <a:rPr sz="800" b="1">
                          <a:solidFill>
                            <a:srgbClr val="111111"/>
                          </a:solidFill>
                          <a:latin typeface="Times New Roman"/>
                          <a:ea typeface="Times New Roman"/>
                          <a:cs typeface="Times New Roman"/>
                        </a:rPr>
                        <a:t>Period with the Employer</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r>
              <a:tr h="628650">
                <a:tc>
                  <a:txBody>
                    <a:bodyPr wrap="square" lIns="19050" tIns="9525" rIns="19050" bIns="9525">
                      <a:normAutofit/>
                    </a:bodyPr>
                    <a:lstStyle/>
                    <a:p>
                      <a:pPr algn="ctr"/>
                      <a:r>
                        <a:rPr sz="850">
                          <a:solidFill>
                            <a:srgbClr val="111111"/>
                          </a:solidFill>
                          <a:latin typeface="Times New Roman"/>
                          <a:ea typeface="Times New Roman"/>
                          <a:cs typeface="Times New Roman"/>
                        </a:rPr>
                        <a:t>NEW CENTRAL REVENUE BUILDING</a:t>
                      </a:r>
                    </a:p>
                    <a:p>
                      <a:pPr algn="ctr"/>
                      <a:r>
                        <a:rPr sz="850">
                          <a:solidFill>
                            <a:srgbClr val="111111"/>
                          </a:solidFill>
                          <a:latin typeface="Times New Roman"/>
                          <a:ea typeface="Times New Roman"/>
                          <a:cs typeface="Times New Roman"/>
                        </a:rPr>
                        <a:t>STATUE CIRCLE, BHAGWAN DASS ROAD</a:t>
                      </a:r>
                    </a:p>
                    <a:p>
                      <a:pPr algn="ctr"/>
                      <a:r>
                        <a:rPr sz="850">
                          <a:solidFill>
                            <a:srgbClr val="111111"/>
                          </a:solidFill>
                          <a:latin typeface="Times New Roman"/>
                          <a:ea typeface="Times New Roman"/>
                          <a:cs typeface="Times New Roman"/>
                        </a:rPr>
                        <a:t>JAIPUR - 302005</a:t>
                      </a:r>
                    </a:p>
                  </a:txBody>
                  <a:tcPr marL="19050" marR="19050" marT="0" marB="0" anchor="ctr"/>
                </a:tc>
                <a:tc>
                  <a:txBody>
                    <a:bodyPr wrap="square" lIns="19050" tIns="9525" rIns="19050" bIns="9525">
                      <a:normAutofit/>
                    </a:bodyPr>
                    <a:lstStyle/>
                    <a:p>
                      <a:pPr algn="ctr"/>
                      <a:r>
                        <a:rPr sz="850">
                          <a:solidFill>
                            <a:srgbClr val="111111"/>
                          </a:solidFill>
                          <a:latin typeface="Times New Roman"/>
                          <a:ea typeface="Times New Roman"/>
                          <a:cs typeface="Times New Roman"/>
                        </a:rPr>
                        <a:t>2026-27</a:t>
                      </a:r>
                    </a:p>
                  </a:txBody>
                  <a:tcPr marL="19050" marR="19050" marT="0" marB="0" anchor="ctr"/>
                </a:tc>
                <a:tc>
                  <a:txBody>
                    <a:bodyPr wrap="square" lIns="19050" tIns="9525" rIns="19050" bIns="9525">
                      <a:normAutofit/>
                    </a:bodyPr>
                    <a:lstStyle/>
                    <a:p>
                      <a:pPr algn="ctr"/>
                      <a:r>
                        <a:rPr sz="850">
                          <a:solidFill>
                            <a:srgbClr val="111111"/>
                          </a:solidFill>
                          <a:latin typeface="Times New Roman"/>
                          <a:ea typeface="Times New Roman"/>
                          <a:cs typeface="Times New Roman"/>
                        </a:rPr>
                        <a:t>01-Apr-2025</a:t>
                      </a:r>
                    </a:p>
                  </a:txBody>
                  <a:tcPr marL="19050" marR="19050" marT="0" marB="0" anchor="ctr"/>
                </a:tc>
                <a:tc>
                  <a:txBody>
                    <a:bodyPr wrap="square" lIns="19050" tIns="9525" rIns="19050" bIns="9525">
                      <a:normAutofit/>
                    </a:bodyPr>
                    <a:lstStyle/>
                    <a:p>
                      <a:pPr algn="ctr"/>
                      <a:r>
                        <a:rPr sz="850">
                          <a:solidFill>
                            <a:srgbClr val="111111"/>
                          </a:solidFill>
                          <a:latin typeface="Times New Roman"/>
                          <a:ea typeface="Times New Roman"/>
                          <a:cs typeface="Times New Roman"/>
                        </a:rPr>
                        <a:t>31-Mar-2026</a:t>
                      </a:r>
                    </a:p>
                  </a:txBody>
                  <a:tcPr marL="19050" marR="19050" marT="0" marB="0" anchor="ctr"/>
                </a:tc>
              </a:tr>
            </a:tbl>
          </a:graphicData>
        </a:graphic>
      </p:graphicFrame>
      <p:sp>
        <p:nvSpPr>
          <p:cNvPr id="21" name="">
            <a:extLst xmlns:a="http://schemas.openxmlformats.org/drawingml/2006/main">
              <a:ext uri="{FF2B5EF4-FFF2-40B4-BE49-F238E27FC236}">
                <a16:creationId xmlns:a16="http://schemas.microsoft.com/office/drawing/2014/main" id="{69D15830-2BEF-4DFA-AAAD-EB530D296C3F}"/>
              </a:ext>
            </a:extLst>
          </p:cNvPr>
          <p:cNvSpPr>
            <a:spLocks xmlns:a="http://schemas.openxmlformats.org/drawingml/2006/main" noGrp="1"/>
          </p:cNvSpPr>
          <p:nvPr/>
        </p:nvSpPr>
        <p:spPr>
          <a:xfrm xmlns:a="http://schemas.openxmlformats.org/drawingml/2006/main">
            <a:off x="266700" y="5000625"/>
            <a:ext cx="7029450" cy="266700"/>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22" name="">
            <a:extLst xmlns:a="http://schemas.openxmlformats.org/drawingml/2006/main">
              <a:ext uri="{FF2B5EF4-FFF2-40B4-BE49-F238E27FC236}">
                <a16:creationId xmlns:a16="http://schemas.microsoft.com/office/drawing/2014/main" id="{02C19B4A-3F81-4FE4-ABA5-E6F8810A1801}"/>
              </a:ext>
            </a:extLst>
          </p:cNvPr>
          <p:cNvSpPr>
            <a:spLocks xmlns:a="http://schemas.openxmlformats.org/drawingml/2006/main" noGrp="1"/>
          </p:cNvSpPr>
          <p:nvPr/>
        </p:nvSpPr>
        <p:spPr>
          <a:xfrm xmlns:a="http://schemas.openxmlformats.org/drawingml/2006/main" rot="0">
            <a:off x="314325" y="5000625"/>
            <a:ext cx="693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800" b="1" i="0">
                <a:solidFill>
                  <a:srgbClr val="111111"/>
                </a:solidFill>
                <a:latin typeface="Times New Roman"/>
                <a:ea typeface="Times New Roman"/>
                <a:cs typeface="Times New Roman"/>
              </a:defRPr>
            </a:pPr>
            <a:r>
              <a:rPr sz="800" b="1" i="0">
                <a:solidFill>
                  <a:srgbClr val="111111"/>
                </a:solidFill>
                <a:latin typeface="Times New Roman"/>
                <a:ea typeface="Times New Roman"/>
                <a:cs typeface="Times New Roman"/>
              </a:rPr>
              <a:t>Summary of amount paid/credited and tax deducted at source thereon in respect of the employee</a:t>
            </a:r>
          </a:p>
        </p:txBody>
      </p:sp>
      <p:graphicFrame>
        <p:nvGraphicFramePr>
          <p:cNvPr id="55" name=""/>
          <p:cNvGraphicFramePr/>
          <p:nvPr/>
        </p:nvGraphicFramePr>
        <p:xfrm>
          <a:off xmlns:a="http://schemas.openxmlformats.org/drawingml/2006/main" x="266700" y="5267325"/>
          <a:ext xmlns:a="http://schemas.openxmlformats.org/drawingml/2006/main" cx="7029450" cy="1590675"/>
        </p:xfrm>
        <a:graphic xmlns:a="http://schemas.openxmlformats.org/drawingml/2006/main">
          <a:graphicData uri="http://schemas.openxmlformats.org/drawingml/2006/table">
            <a:tbl>
              <a:tblPr/>
              <a:tblGrid>
                <a:gridCol w="1019175"/>
                <a:gridCol w="1524000"/>
                <a:gridCol w="1323975"/>
                <a:gridCol w="1524000"/>
                <a:gridCol w="1638300"/>
              </a:tblGrid>
              <a:tr h="638175">
                <a:tc>
                  <a:txBody>
                    <a:bodyPr wrap="square" lIns="19050" tIns="9525" rIns="19050" bIns="9525">
                      <a:normAutofit/>
                    </a:bodyPr>
                    <a:lstStyle/>
                    <a:p>
                      <a:pPr algn="ctr"/>
                      <a:r>
                        <a:rPr sz="800" b="1">
                          <a:solidFill>
                            <a:srgbClr val="111111"/>
                          </a:solidFill>
                          <a:latin typeface="Times New Roman"/>
                          <a:ea typeface="Times New Roman"/>
                          <a:cs typeface="Times New Roman"/>
                        </a:rPr>
                        <a:t>Quarter(s)</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Receipt Numbers of original quarterly statements of TDS under sub-section (3) of Section 200</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Amount paid/credited</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Amount of tax deducted (Rs.)</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Amount of tax deposited / remitted (Rs.)</a:t>
                      </a:r>
                    </a:p>
                  </a:txBody>
                  <a:tcPr marL="19050" marR="19050" marT="0" marB="0" anchor="ctr"/>
                </a:tc>
              </a:tr>
              <a:tr h="190500">
                <a:tc>
                  <a:txBody>
                    <a:bodyPr wrap="square" lIns="19050" tIns="9525" rIns="19050" bIns="9525">
                      <a:normAutofit/>
                    </a:bodyPr>
                    <a:lstStyle/>
                    <a:p>
                      <a:pPr algn="ctr"/>
                      <a:r>
                        <a:rPr sz="800">
                          <a:solidFill>
                            <a:srgbClr val="111111"/>
                          </a:solidFill>
                          <a:latin typeface="Times New Roman"/>
                          <a:ea typeface="Times New Roman"/>
                          <a:cs typeface="Times New Roman"/>
                        </a:rPr>
                        <a:t>Q1</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JKMNDFYM</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149600.00</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0.00</a:t>
                      </a:r>
                    </a:p>
                  </a:txBody>
                  <a:tcPr marL="19050" marR="19050" marT="0" marB="0" anchor="ctr"/>
                </a:tc>
              </a:tr>
              <a:tr h="190500">
                <a:tc>
                  <a:txBody>
                    <a:bodyPr wrap="square" lIns="19050" tIns="9525" rIns="19050" bIns="9525">
                      <a:normAutofit/>
                    </a:bodyPr>
                    <a:lstStyle/>
                    <a:p>
                      <a:pPr algn="ctr"/>
                      <a:r>
                        <a:rPr sz="800">
                          <a:solidFill>
                            <a:srgbClr val="111111"/>
                          </a:solidFill>
                          <a:latin typeface="Times New Roman"/>
                          <a:ea typeface="Times New Roman"/>
                          <a:cs typeface="Times New Roman"/>
                        </a:rPr>
                        <a:t>Q2</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JKMNDKRP</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149500.00</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0.00</a:t>
                      </a:r>
                    </a:p>
                  </a:txBody>
                  <a:tcPr marL="19050" marR="19050" marT="0" marB="0" anchor="ctr"/>
                </a:tc>
              </a:tr>
              <a:tr h="190500">
                <a:tc>
                  <a:txBody>
                    <a:bodyPr wrap="square" lIns="19050" tIns="9525" rIns="19050" bIns="9525">
                      <a:normAutofit/>
                    </a:bodyPr>
                    <a:lstStyle/>
                    <a:p>
                      <a:pPr algn="ctr"/>
                      <a:r>
                        <a:rPr sz="800">
                          <a:solidFill>
                            <a:srgbClr val="111111"/>
                          </a:solidFill>
                          <a:latin typeface="Times New Roman"/>
                          <a:ea typeface="Times New Roman"/>
                          <a:cs typeface="Times New Roman"/>
                        </a:rPr>
                        <a:t>Q3</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JKMNDQTX</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149600.00</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0.00</a:t>
                      </a:r>
                    </a:p>
                  </a:txBody>
                  <a:tcPr marL="19050" marR="19050" marT="0" marB="0" anchor="ctr"/>
                </a:tc>
              </a:tr>
              <a:tr h="190500">
                <a:tc>
                  <a:txBody>
                    <a:bodyPr wrap="square" lIns="19050" tIns="9525" rIns="19050" bIns="9525">
                      <a:normAutofit/>
                    </a:bodyPr>
                    <a:lstStyle/>
                    <a:p>
                      <a:pPr algn="ctr"/>
                      <a:r>
                        <a:rPr sz="800">
                          <a:solidFill>
                            <a:srgbClr val="111111"/>
                          </a:solidFill>
                          <a:latin typeface="Times New Roman"/>
                          <a:ea typeface="Times New Roman"/>
                          <a:cs typeface="Times New Roman"/>
                        </a:rPr>
                        <a:t>Q4</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JKMNDFZA</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150800.00</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0.00</a:t>
                      </a:r>
                    </a:p>
                  </a:txBody>
                  <a:tcPr marL="19050" marR="19050" marT="0" marB="0" anchor="ctr"/>
                </a:tc>
              </a:tr>
              <a:tr h="190500">
                <a:tc>
                  <a:txBody>
                    <a:bodyPr wrap="square" lIns="19050" tIns="9525" rIns="19050" bIns="9525">
                      <a:normAutofit/>
                    </a:bodyPr>
                    <a:lstStyle/>
                    <a:p>
                      <a:pPr algn="ctr"/>
                      <a:r>
                        <a:rPr sz="800" b="1">
                          <a:solidFill>
                            <a:srgbClr val="111111"/>
                          </a:solidFill>
                          <a:latin typeface="Times New Roman"/>
                          <a:ea typeface="Times New Roman"/>
                          <a:cs typeface="Times New Roman"/>
                        </a:rPr>
                        <a:t>Total (Rs.)</a:t>
                      </a:r>
                    </a:p>
                  </a:txBody>
                  <a:tcPr marL="19050" marR="19050" marT="0" marB="0" anchor="ctr">
                    <a:solidFill>
                      <a:srgbClr val="F5F5F5"/>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a:t>
                      </a:r>
                    </a:p>
                  </a:txBody>
                  <a:tcPr marL="19050" marR="19050" marT="0" marB="0" anchor="ctr">
                    <a:solidFill>
                      <a:srgbClr val="F5F5F5"/>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599500.00</a:t>
                      </a:r>
                    </a:p>
                  </a:txBody>
                  <a:tcPr marL="19050" marR="19050" marT="0" marB="0" anchor="ctr">
                    <a:solidFill>
                      <a:srgbClr val="F5F5F5"/>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0.00</a:t>
                      </a:r>
                    </a:p>
                  </a:txBody>
                  <a:tcPr marL="19050" marR="19050" marT="0" marB="0" anchor="ctr">
                    <a:solidFill>
                      <a:srgbClr val="F5F5F5"/>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0.00</a:t>
                      </a:r>
                    </a:p>
                  </a:txBody>
                  <a:tcPr marL="19050" marR="19050" marT="0" marB="0" anchor="ctr">
                    <a:solidFill>
                      <a:srgbClr val="F5F5F5"/>
                    </a:solidFill>
                  </a:tcPr>
                </a:tc>
              </a:tr>
            </a:tbl>
          </a:graphicData>
        </a:graphic>
      </p:graphicFrame>
      <p:sp>
        <p:nvSpPr>
          <p:cNvPr id="24" name="">
            <a:extLst xmlns:a="http://schemas.openxmlformats.org/drawingml/2006/main">
              <a:ext uri="{FF2B5EF4-FFF2-40B4-BE49-F238E27FC236}">
                <a16:creationId xmlns:a16="http://schemas.microsoft.com/office/drawing/2014/main" id="{6F849408-CA4F-47FD-B6E5-7460E3B4CD3E}"/>
              </a:ext>
            </a:extLst>
          </p:cNvPr>
          <p:cNvSpPr>
            <a:spLocks xmlns:a="http://schemas.openxmlformats.org/drawingml/2006/main" noGrp="1"/>
          </p:cNvSpPr>
          <p:nvPr/>
        </p:nvSpPr>
        <p:spPr>
          <a:xfrm xmlns:a="http://schemas.openxmlformats.org/drawingml/2006/main">
            <a:off x="266700" y="6858000"/>
            <a:ext cx="7029450" cy="352425"/>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25" name="">
            <a:extLst xmlns:a="http://schemas.openxmlformats.org/drawingml/2006/main">
              <a:ext uri="{FF2B5EF4-FFF2-40B4-BE49-F238E27FC236}">
                <a16:creationId xmlns:a16="http://schemas.microsoft.com/office/drawing/2014/main" id="{2B380322-3547-4EA5-923C-1F17146A67BA}"/>
              </a:ext>
            </a:extLst>
          </p:cNvPr>
          <p:cNvSpPr>
            <a:spLocks xmlns:a="http://schemas.openxmlformats.org/drawingml/2006/main" noGrp="1"/>
          </p:cNvSpPr>
          <p:nvPr/>
        </p:nvSpPr>
        <p:spPr>
          <a:xfrm xmlns:a="http://schemas.openxmlformats.org/drawingml/2006/main" rot="0">
            <a:off x="304800" y="689610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800" b="1" i="0">
                <a:solidFill>
                  <a:srgbClr val="111111"/>
                </a:solidFill>
                <a:latin typeface="Times New Roman"/>
                <a:ea typeface="Times New Roman"/>
                <a:cs typeface="Times New Roman"/>
              </a:defRPr>
            </a:pPr>
            <a:r>
              <a:rPr sz="800" b="1" i="0">
                <a:solidFill>
                  <a:srgbClr val="111111"/>
                </a:solidFill>
                <a:latin typeface="Times New Roman"/>
                <a:ea typeface="Times New Roman"/>
                <a:cs typeface="Times New Roman"/>
              </a:rPr>
              <a:t>I. DETAILS OF TAX DEDUCTED AND DEPOSITED IN THE CENTRAL GOVERNMENT ACCOUNT THROUGH BOOK ADJUSTMENT</a:t>
            </a:r>
          </a:p>
          <a:p xmlns:a="http://schemas.openxmlformats.org/drawingml/2006/main">
            <a:pPr algn="ctr">
              <a:lnSpc>
                <a:spcPct val="100000"/>
              </a:lnSpc>
              <a:buNone/>
              <a:defRPr sz="800" b="1" i="0">
                <a:solidFill>
                  <a:srgbClr val="111111"/>
                </a:solidFill>
                <a:latin typeface="Times New Roman"/>
                <a:ea typeface="Times New Roman"/>
                <a:cs typeface="Times New Roman"/>
              </a:defRPr>
            </a:pPr>
            <a:r>
              <a:rPr sz="800" b="1" i="0">
                <a:solidFill>
                  <a:srgbClr val="111111"/>
                </a:solidFill>
                <a:latin typeface="Times New Roman"/>
                <a:ea typeface="Times New Roman"/>
                <a:cs typeface="Times New Roman"/>
              </a:rPr>
              <a:t>(The deductor to provide payment wise details of tax deducted and deposited with respect to the deductee)</a:t>
            </a:r>
          </a:p>
        </p:txBody>
      </p:sp>
      <p:graphicFrame>
        <p:nvGraphicFramePr>
          <p:cNvPr id="58" name=""/>
          <p:cNvGraphicFramePr/>
          <p:nvPr/>
        </p:nvGraphicFramePr>
        <p:xfrm>
          <a:off xmlns:a="http://schemas.openxmlformats.org/drawingml/2006/main" x="266700" y="7210425"/>
          <a:ext xmlns:a="http://schemas.openxmlformats.org/drawingml/2006/main" cx="7029450" cy="762000"/>
        </p:xfrm>
        <a:graphic xmlns:a="http://schemas.openxmlformats.org/drawingml/2006/main">
          <a:graphicData uri="http://schemas.openxmlformats.org/drawingml/2006/table">
            <a:tbl>
              <a:tblPr/>
              <a:tblGrid>
                <a:gridCol w="638175"/>
                <a:gridCol w="1524000"/>
                <a:gridCol w="1190625"/>
                <a:gridCol w="1600200"/>
                <a:gridCol w="1133475"/>
                <a:gridCol w="942975"/>
              </a:tblGrid>
              <a:tr h="257175">
                <a:tc rowSpan="2">
                  <a:txBody>
                    <a:bodyPr wrap="square" lIns="19050" tIns="9525" rIns="19050" bIns="9525">
                      <a:normAutofit/>
                    </a:bodyPr>
                    <a:lstStyle/>
                    <a:p>
                      <a:pPr algn="ctr"/>
                      <a:r>
                        <a:rPr sz="800" b="1">
                          <a:solidFill>
                            <a:srgbClr val="111111"/>
                          </a:solidFill>
                          <a:latin typeface="Times New Roman"/>
                          <a:ea typeface="Times New Roman"/>
                          <a:cs typeface="Times New Roman"/>
                        </a:rPr>
                        <a:t>Sl. No.</a:t>
                      </a:r>
                    </a:p>
                  </a:txBody>
                  <a:tcPr marL="19050" marR="19050" marT="0" marB="0" anchor="ctr"/>
                </a:tc>
                <a:tc rowSpan="2">
                  <a:txBody>
                    <a:bodyPr wrap="square" lIns="19050" tIns="9525" rIns="19050" bIns="9525">
                      <a:normAutofit/>
                    </a:bodyPr>
                    <a:lstStyle/>
                    <a:p>
                      <a:pPr algn="ctr"/>
                      <a:r>
                        <a:rPr sz="800" b="1">
                          <a:solidFill>
                            <a:srgbClr val="111111"/>
                          </a:solidFill>
                          <a:latin typeface="Times New Roman"/>
                          <a:ea typeface="Times New Roman"/>
                          <a:cs typeface="Times New Roman"/>
                        </a:rPr>
                        <a:t>Tax Deposited in respect of the deductee (Rs.)</a:t>
                      </a:r>
                    </a:p>
                  </a:txBody>
                  <a:tcPr marL="19050" marR="19050" marT="0" marB="0" anchor="ctr"/>
                </a:tc>
                <a:tc gridSpan="4">
                  <a:txBody>
                    <a:bodyPr wrap="square" lIns="19050" tIns="9525" rIns="19050" bIns="9525">
                      <a:normAutofit/>
                    </a:bodyPr>
                    <a:lstStyle/>
                    <a:p>
                      <a:pPr algn="ctr"/>
                      <a:r>
                        <a:rPr sz="800" b="1">
                          <a:solidFill>
                            <a:srgbClr val="111111"/>
                          </a:solidFill>
                          <a:latin typeface="Times New Roman"/>
                          <a:ea typeface="Times New Roman"/>
                          <a:cs typeface="Times New Roman"/>
                        </a:rPr>
                        <a:t>Book Identification Number (BIN)</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r>
              <a:tr h="504825">
                <a:tc v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v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Receipt Numbers of Form No. 24G</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DDO serial number in Form no. 24G</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Date of transfer voucher (dd/mm/yyyy)</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Status of matching with Form no. 24G</a:t>
                      </a:r>
                    </a:p>
                  </a:txBody>
                  <a:tcPr marL="19050" marR="19050" marT="0" marB="0" anchor="ctr"/>
                </a:tc>
              </a:tr>
            </a:tbl>
          </a:graphicData>
        </a:graphic>
      </p:graphicFrame>
      <p:sp>
        <p:nvSpPr>
          <p:cNvPr id="27" name="">
            <a:extLst xmlns:a="http://schemas.openxmlformats.org/drawingml/2006/main">
              <a:ext uri="{FF2B5EF4-FFF2-40B4-BE49-F238E27FC236}">
                <a16:creationId xmlns:a16="http://schemas.microsoft.com/office/drawing/2014/main" id="{5ACB9C74-1775-4D62-9B68-56E742A73C74}"/>
              </a:ext>
            </a:extLst>
          </p:cNvPr>
          <p:cNvSpPr>
            <a:spLocks xmlns:a="http://schemas.openxmlformats.org/drawingml/2006/main" noGrp="1"/>
          </p:cNvSpPr>
          <p:nvPr/>
        </p:nvSpPr>
        <p:spPr>
          <a:xfrm xmlns:a="http://schemas.openxmlformats.org/drawingml/2006/main">
            <a:off x="266700" y="7972425"/>
            <a:ext cx="619125" cy="190500"/>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28" name="">
            <a:extLst xmlns:a="http://schemas.openxmlformats.org/drawingml/2006/main">
              <a:ext uri="{FF2B5EF4-FFF2-40B4-BE49-F238E27FC236}">
                <a16:creationId xmlns:a16="http://schemas.microsoft.com/office/drawing/2014/main" id="{A0C6FD44-4EE0-4862-886B-81E7C2E096F3}"/>
              </a:ext>
            </a:extLst>
          </p:cNvPr>
          <p:cNvSpPr>
            <a:spLocks xmlns:a="http://schemas.openxmlformats.org/drawingml/2006/main" noGrp="1"/>
          </p:cNvSpPr>
          <p:nvPr/>
        </p:nvSpPr>
        <p:spPr>
          <a:xfrm xmlns:a="http://schemas.openxmlformats.org/drawingml/2006/main">
            <a:off x="885825" y="7972425"/>
            <a:ext cx="6410325" cy="190500"/>
          </a:xfrm>
          <a:prstGeom xmlns:a="http://schemas.openxmlformats.org/drawingml/2006/main" prst="rect">
            <a:avLst/>
          </a:prstGeom>
          <a:solidFill xmlns:a="http://schemas.openxmlformats.org/drawingml/2006/main">
            <a:srgbClr val="D4D4D4"/>
          </a:solidFill>
          <a:ln xmlns:a="http://schemas.openxmlformats.org/drawingml/2006/main" w="8573">
            <a:solidFill>
              <a:srgbClr val="111111"/>
            </a:solidFill>
            <a:prstDash val="solid"/>
          </a:ln>
        </p:spPr>
      </p:sp>
      <p:sp>
        <p:nvSpPr>
          <p:cNvPr id="29" name="">
            <a:extLst xmlns:a="http://schemas.openxmlformats.org/drawingml/2006/main">
              <a:ext uri="{FF2B5EF4-FFF2-40B4-BE49-F238E27FC236}">
                <a16:creationId xmlns:a16="http://schemas.microsoft.com/office/drawing/2014/main" id="{09EB3177-9062-4F2E-8B0E-72111C7FEA74}"/>
              </a:ext>
            </a:extLst>
          </p:cNvPr>
          <p:cNvSpPr>
            <a:spLocks xmlns:a="http://schemas.openxmlformats.org/drawingml/2006/main" noGrp="1"/>
          </p:cNvSpPr>
          <p:nvPr/>
        </p:nvSpPr>
        <p:spPr>
          <a:xfrm xmlns:a="http://schemas.openxmlformats.org/drawingml/2006/main" rot="0">
            <a:off x="266700" y="79724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760" b="0" i="0">
                <a:solidFill>
                  <a:srgbClr val="111111"/>
                </a:solidFill>
                <a:latin typeface="Times New Roman"/>
                <a:ea typeface="Times New Roman"/>
                <a:cs typeface="Times New Roman"/>
              </a:defRPr>
            </a:pPr>
            <a:r>
              <a:rPr sz="760" b="0" i="0">
                <a:solidFill>
                  <a:srgbClr val="111111"/>
                </a:solidFill>
                <a:latin typeface="Times New Roman"/>
                <a:ea typeface="Times New Roman"/>
                <a:cs typeface="Times New Roman"/>
              </a:rPr>
              <a:t>Total (Rs.)</a:t>
            </a:r>
          </a:p>
        </p:txBody>
      </p:sp>
      <p:sp>
        <p:nvSpPr>
          <p:cNvPr id="30" name="">
            <a:extLst xmlns:a="http://schemas.openxmlformats.org/drawingml/2006/main">
              <a:ext uri="{FF2B5EF4-FFF2-40B4-BE49-F238E27FC236}">
                <a16:creationId xmlns:a16="http://schemas.microsoft.com/office/drawing/2014/main" id="{B2FA06E4-2FF1-4623-8D7D-23E9DDEF88BE}"/>
              </a:ext>
            </a:extLst>
          </p:cNvPr>
          <p:cNvSpPr>
            <a:spLocks xmlns:a="http://schemas.openxmlformats.org/drawingml/2006/main" noGrp="1"/>
          </p:cNvSpPr>
          <p:nvPr/>
        </p:nvSpPr>
        <p:spPr>
          <a:xfrm xmlns:a="http://schemas.openxmlformats.org/drawingml/2006/main">
            <a:off x="266700" y="8162925"/>
            <a:ext cx="7029450" cy="361950"/>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31" name="">
            <a:extLst xmlns:a="http://schemas.openxmlformats.org/drawingml/2006/main">
              <a:ext uri="{FF2B5EF4-FFF2-40B4-BE49-F238E27FC236}">
                <a16:creationId xmlns:a16="http://schemas.microsoft.com/office/drawing/2014/main" id="{396BAC1A-F7A3-406F-B1C1-E97BD825176A}"/>
              </a:ext>
            </a:extLst>
          </p:cNvPr>
          <p:cNvSpPr>
            <a:spLocks xmlns:a="http://schemas.openxmlformats.org/drawingml/2006/main" noGrp="1"/>
          </p:cNvSpPr>
          <p:nvPr/>
        </p:nvSpPr>
        <p:spPr>
          <a:xfrm xmlns:a="http://schemas.openxmlformats.org/drawingml/2006/main" rot="0">
            <a:off x="304800" y="8201025"/>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800" b="1" i="0">
                <a:solidFill>
                  <a:srgbClr val="111111"/>
                </a:solidFill>
                <a:latin typeface="Times New Roman"/>
                <a:ea typeface="Times New Roman"/>
                <a:cs typeface="Times New Roman"/>
              </a:defRPr>
            </a:pPr>
            <a:r>
              <a:rPr sz="800" b="1" i="0">
                <a:solidFill>
                  <a:srgbClr val="111111"/>
                </a:solidFill>
                <a:latin typeface="Times New Roman"/>
                <a:ea typeface="Times New Roman"/>
                <a:cs typeface="Times New Roman"/>
              </a:rPr>
              <a:t>II. DETAILS OF TAX DEDUCTED AND DEPOSITED IN THE CENTRAL GOVERNMENT ACCOUNT THROUGH CHALLAN</a:t>
            </a:r>
          </a:p>
          <a:p xmlns:a="http://schemas.openxmlformats.org/drawingml/2006/main">
            <a:pPr algn="ctr">
              <a:lnSpc>
                <a:spcPct val="100000"/>
              </a:lnSpc>
              <a:buNone/>
              <a:defRPr sz="800" b="1" i="0">
                <a:solidFill>
                  <a:srgbClr val="111111"/>
                </a:solidFill>
                <a:latin typeface="Times New Roman"/>
                <a:ea typeface="Times New Roman"/>
                <a:cs typeface="Times New Roman"/>
              </a:defRPr>
            </a:pPr>
            <a:r>
              <a:rPr sz="800" b="1" i="0">
                <a:solidFill>
                  <a:srgbClr val="111111"/>
                </a:solidFill>
                <a:latin typeface="Times New Roman"/>
                <a:ea typeface="Times New Roman"/>
                <a:cs typeface="Times New Roman"/>
              </a:rPr>
              <a:t>(The deductor to provide payment wise details of tax deducted and deposited with respect to the deductee)</a:t>
            </a:r>
          </a:p>
        </p:txBody>
      </p:sp>
      <p:graphicFrame>
        <p:nvGraphicFramePr>
          <p:cNvPr id="64" name=""/>
          <p:cNvGraphicFramePr/>
          <p:nvPr/>
        </p:nvGraphicFramePr>
        <p:xfrm>
          <a:off xmlns:a="http://schemas.openxmlformats.org/drawingml/2006/main" x="266700" y="8524875"/>
          <a:ext xmlns:a="http://schemas.openxmlformats.org/drawingml/2006/main" cx="7029450" cy="1524000"/>
        </p:xfrm>
        <a:graphic xmlns:a="http://schemas.openxmlformats.org/drawingml/2006/main">
          <a:graphicData uri="http://schemas.openxmlformats.org/drawingml/2006/table">
            <a:tbl>
              <a:tblPr/>
              <a:tblGrid>
                <a:gridCol w="638175"/>
                <a:gridCol w="1524000"/>
                <a:gridCol w="1323975"/>
                <a:gridCol w="1304925"/>
                <a:gridCol w="1133475"/>
                <a:gridCol w="1104900"/>
              </a:tblGrid>
              <a:tr h="381000">
                <a:tc rowSpan="2">
                  <a:txBody>
                    <a:bodyPr wrap="square" lIns="19050" tIns="9525" rIns="19050" bIns="9525">
                      <a:normAutofit/>
                    </a:bodyPr>
                    <a:lstStyle/>
                    <a:p>
                      <a:pPr algn="ctr"/>
                      <a:r>
                        <a:rPr sz="800" b="1">
                          <a:solidFill>
                            <a:srgbClr val="111111"/>
                          </a:solidFill>
                          <a:latin typeface="Times New Roman"/>
                          <a:ea typeface="Times New Roman"/>
                          <a:cs typeface="Times New Roman"/>
                        </a:rPr>
                        <a:t>Sl. No.</a:t>
                      </a:r>
                    </a:p>
                  </a:txBody>
                  <a:tcPr marL="19050" marR="19050" marT="0" marB="0" anchor="ctr"/>
                </a:tc>
                <a:tc rowSpan="2">
                  <a:txBody>
                    <a:bodyPr wrap="square" lIns="19050" tIns="9525" rIns="19050" bIns="9525">
                      <a:normAutofit/>
                    </a:bodyPr>
                    <a:lstStyle/>
                    <a:p>
                      <a:pPr algn="ctr"/>
                      <a:r>
                        <a:rPr sz="800" b="1">
                          <a:solidFill>
                            <a:srgbClr val="111111"/>
                          </a:solidFill>
                          <a:latin typeface="Times New Roman"/>
                          <a:ea typeface="Times New Roman"/>
                          <a:cs typeface="Times New Roman"/>
                        </a:rPr>
                        <a:t>Tax Deposited in respect of the deductee (Rs.)</a:t>
                      </a:r>
                    </a:p>
                  </a:txBody>
                  <a:tcPr marL="19050" marR="19050" marT="0" marB="0" anchor="ctr"/>
                </a:tc>
                <a:tc gridSpan="4">
                  <a:txBody>
                    <a:bodyPr wrap="square" lIns="19050" tIns="9525" rIns="19050" bIns="9525">
                      <a:normAutofit/>
                    </a:bodyPr>
                    <a:lstStyle/>
                    <a:p>
                      <a:pPr algn="ctr"/>
                      <a:r>
                        <a:rPr sz="800" b="1">
                          <a:solidFill>
                            <a:srgbClr val="111111"/>
                          </a:solidFill>
                          <a:latin typeface="Times New Roman"/>
                          <a:ea typeface="Times New Roman"/>
                          <a:cs typeface="Times New Roman"/>
                        </a:rPr>
                        <a:t>Challan Identification Number (CIN)</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r>
              <a:tr h="381000">
                <a:tc v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v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BSR Code of the Bank Branch</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Date on which Tax deposited (dd/mm/yyyy)</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Challan Serial Number</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Status of matching with OLTAS*</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1</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12-05-2025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2</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21-05-2025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3</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17-06-2025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4</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26-07-2025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bl>
          </a:graphicData>
        </a:graphic>
      </p:graphicFrame>
    </p:spTree>
    <p:extLst>
      <p:ext uri="{BB962C8B-B14F-4D97-AF65-F5344CB8AC3E}">
        <p14:creationId xmlns:p14="http://schemas.microsoft.com/office/powerpoint/2010/main" val="5559375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490f61c0fd04a8e"/>
          <a:stretch xmlns:a="http://schemas.openxmlformats.org/drawingml/2006/main"/>
        </p:blipFill>
        <p:spPr>
          <a:xfrm xmlns:a="http://schemas.openxmlformats.org/drawingml/2006/main">
            <a:off x="1381125" y="3717417"/>
            <a:ext cx="4800600" cy="292836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FD2A35-C57F-4F50-9BC7-5974006E0F5D}"/>
              </a:ext>
            </a:extLst>
          </p:cNvPr>
          <p:cNvSpPr>
            <a:spLocks xmlns:a="http://schemas.openxmlformats.org/drawingml/2006/main" noGrp="1"/>
          </p:cNvSpPr>
          <p:nvPr/>
        </p:nvSpPr>
        <p:spPr>
          <a:xfrm xmlns:a="http://schemas.openxmlformats.org/drawingml/2006/main" rot="0">
            <a:off x="6429375" y="1019175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r">
              <a:lnSpc>
                <a:spcPct val="100000"/>
              </a:lnSpc>
              <a:buNone/>
              <a:defRPr sz="750" b="0" i="0">
                <a:solidFill>
                  <a:srgbClr val="111111"/>
                </a:solidFill>
                <a:latin typeface="Times New Roman"/>
                <a:ea typeface="Times New Roman"/>
                <a:cs typeface="Times New Roman"/>
              </a:defRPr>
            </a:pPr>
            <a:r>
              <a:rPr sz="750" b="0" i="0">
                <a:solidFill>
                  <a:srgbClr val="111111"/>
                </a:solidFill>
                <a:latin typeface="Times New Roman"/>
                <a:ea typeface="Times New Roman"/>
                <a:cs typeface="Times New Roman"/>
              </a:rPr>
              <a:t>Page 2 of 2</a:t>
            </a:r>
          </a:p>
        </p:txBody>
      </p:sp>
      <p:sp>
        <p:nvSpPr>
          <p:cNvPr id="3" name="">
            <a:extLst xmlns:a="http://schemas.openxmlformats.org/drawingml/2006/main">
              <a:ext uri="{FF2B5EF4-FFF2-40B4-BE49-F238E27FC236}">
                <a16:creationId xmlns:a16="http://schemas.microsoft.com/office/drawing/2014/main" id="{C6CB1D4B-E4CF-463E-A4DE-5D7BC83D8672}"/>
              </a:ext>
            </a:extLst>
          </p:cNvPr>
          <p:cNvSpPr>
            <a:spLocks xmlns:a="http://schemas.openxmlformats.org/drawingml/2006/main" noGrp="1"/>
          </p:cNvSpPr>
          <p:nvPr/>
        </p:nvSpPr>
        <p:spPr>
          <a:xfrm xmlns:a="http://schemas.openxmlformats.org/drawingml/2006/main" rot="0">
            <a:off x="1381125" y="10391775"/>
            <a:ext cx="4800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850" b="1" i="0">
                <a:solidFill>
                  <a:srgbClr val="B91C1C"/>
                </a:solidFill>
                <a:latin typeface="Arial"/>
                <a:ea typeface="Arial"/>
                <a:cs typeface="Arial"/>
              </a:defRPr>
            </a:pPr>
            <a:r>
              <a:rPr sz="850" b="1" i="0">
                <a:solidFill>
                  <a:srgbClr val="B91C1C"/>
                </a:solidFill>
                <a:latin typeface="Arial"/>
                <a:ea typeface="Arial"/>
                <a:cs typeface="Arial"/>
              </a:rPr>
              <a:t>ILLUSTRATIVE PREVIEW - NOT VALID FOR TAX USE OR SUBMISSION</a:t>
            </a:r>
          </a:p>
        </p:txBody>
      </p:sp>
      <p:sp>
        <p:nvSpPr>
          <p:cNvPr id="4" name="">
            <a:extLst xmlns:a="http://schemas.openxmlformats.org/drawingml/2006/main">
              <a:ext uri="{FF2B5EF4-FFF2-40B4-BE49-F238E27FC236}">
                <a16:creationId xmlns:a16="http://schemas.microsoft.com/office/drawing/2014/main" id="{9B0B1CE0-24F8-4D38-9555-4564508E378B}"/>
              </a:ext>
            </a:extLst>
          </p:cNvPr>
          <p:cNvSpPr>
            <a:spLocks xmlns:a="http://schemas.openxmlformats.org/drawingml/2006/main" noGrp="1"/>
          </p:cNvSpPr>
          <p:nvPr/>
        </p:nvSpPr>
        <p:spPr>
          <a:xfrm xmlns:a="http://schemas.openxmlformats.org/drawingml/2006/main" rot="0">
            <a:off x="266700" y="36195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l">
              <a:lnSpc>
                <a:spcPct val="100000"/>
              </a:lnSpc>
              <a:buNone/>
              <a:defRPr sz="600" b="1" i="0">
                <a:solidFill>
                  <a:srgbClr val="111111"/>
                </a:solidFill>
                <a:latin typeface="Times New Roman"/>
                <a:ea typeface="Times New Roman"/>
                <a:cs typeface="Times New Roman"/>
              </a:defRPr>
            </a:pPr>
            <a:r>
              <a:rPr sz="600" b="1" i="0">
                <a:solidFill>
                  <a:srgbClr val="111111"/>
                </a:solidFill>
                <a:latin typeface="Times New Roman"/>
                <a:ea typeface="Times New Roman"/>
                <a:cs typeface="Times New Roman"/>
              </a:rPr>
              <a:t>Certificate Number: JKMNDCB</a:t>
            </a:r>
          </a:p>
        </p:txBody>
      </p:sp>
      <p:sp>
        <p:nvSpPr>
          <p:cNvPr id="5" name="">
            <a:extLst xmlns:a="http://schemas.openxmlformats.org/drawingml/2006/main">
              <a:ext uri="{FF2B5EF4-FFF2-40B4-BE49-F238E27FC236}">
                <a16:creationId xmlns:a16="http://schemas.microsoft.com/office/drawing/2014/main" id="{6BE1F47D-1EF8-4835-879C-00A60B3D7926}"/>
              </a:ext>
            </a:extLst>
          </p:cNvPr>
          <p:cNvSpPr>
            <a:spLocks xmlns:a="http://schemas.openxmlformats.org/drawingml/2006/main" noGrp="1"/>
          </p:cNvSpPr>
          <p:nvPr/>
        </p:nvSpPr>
        <p:spPr>
          <a:xfrm xmlns:a="http://schemas.openxmlformats.org/drawingml/2006/main" rot="0">
            <a:off x="2047875" y="3619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l">
              <a:lnSpc>
                <a:spcPct val="100000"/>
              </a:lnSpc>
              <a:buNone/>
              <a:defRPr sz="600" b="1" i="0">
                <a:solidFill>
                  <a:srgbClr val="111111"/>
                </a:solidFill>
                <a:latin typeface="Times New Roman"/>
                <a:ea typeface="Times New Roman"/>
                <a:cs typeface="Times New Roman"/>
              </a:defRPr>
            </a:pPr>
            <a:r>
              <a:rPr sz="600" b="1" i="0">
                <a:solidFill>
                  <a:srgbClr val="111111"/>
                </a:solidFill>
                <a:latin typeface="Times New Roman"/>
                <a:ea typeface="Times New Roman"/>
                <a:cs typeface="Times New Roman"/>
              </a:rPr>
              <a:t>TAN of Employer: JIRPB25657M</a:t>
            </a:r>
          </a:p>
        </p:txBody>
      </p:sp>
      <p:sp>
        <p:nvSpPr>
          <p:cNvPr id="6" name="">
            <a:extLst xmlns:a="http://schemas.openxmlformats.org/drawingml/2006/main">
              <a:ext uri="{FF2B5EF4-FFF2-40B4-BE49-F238E27FC236}">
                <a16:creationId xmlns:a16="http://schemas.microsoft.com/office/drawing/2014/main" id="{0F26955B-BEFF-4345-BFCA-F49B432BFD29}"/>
              </a:ext>
            </a:extLst>
          </p:cNvPr>
          <p:cNvSpPr>
            <a:spLocks xmlns:a="http://schemas.openxmlformats.org/drawingml/2006/main" noGrp="1"/>
          </p:cNvSpPr>
          <p:nvPr/>
        </p:nvSpPr>
        <p:spPr>
          <a:xfrm xmlns:a="http://schemas.openxmlformats.org/drawingml/2006/main" rot="0">
            <a:off x="4095750" y="36195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l">
              <a:lnSpc>
                <a:spcPct val="100000"/>
              </a:lnSpc>
              <a:buNone/>
              <a:defRPr sz="600" b="1" i="0">
                <a:solidFill>
                  <a:srgbClr val="111111"/>
                </a:solidFill>
                <a:latin typeface="Times New Roman"/>
                <a:ea typeface="Times New Roman"/>
                <a:cs typeface="Times New Roman"/>
              </a:defRPr>
            </a:pPr>
            <a:r>
              <a:rPr sz="600" b="1" i="0">
                <a:solidFill>
                  <a:srgbClr val="111111"/>
                </a:solidFill>
                <a:latin typeface="Times New Roman"/>
                <a:ea typeface="Times New Roman"/>
                <a:cs typeface="Times New Roman"/>
              </a:rPr>
              <a:t>PAN of Employee: CZJPB5424R</a:t>
            </a:r>
          </a:p>
        </p:txBody>
      </p:sp>
      <p:sp>
        <p:nvSpPr>
          <p:cNvPr id="7" name="">
            <a:extLst xmlns:a="http://schemas.openxmlformats.org/drawingml/2006/main">
              <a:ext uri="{FF2B5EF4-FFF2-40B4-BE49-F238E27FC236}">
                <a16:creationId xmlns:a16="http://schemas.microsoft.com/office/drawing/2014/main" id="{507A80C0-60BB-4037-8D34-4F39C4B5A98A}"/>
              </a:ext>
            </a:extLst>
          </p:cNvPr>
          <p:cNvSpPr>
            <a:spLocks xmlns:a="http://schemas.openxmlformats.org/drawingml/2006/main" noGrp="1"/>
          </p:cNvSpPr>
          <p:nvPr/>
        </p:nvSpPr>
        <p:spPr>
          <a:xfrm xmlns:a="http://schemas.openxmlformats.org/drawingml/2006/main" rot="0">
            <a:off x="5857875" y="361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r">
              <a:lnSpc>
                <a:spcPct val="100000"/>
              </a:lnSpc>
              <a:buNone/>
              <a:defRPr sz="600" b="1" i="0">
                <a:solidFill>
                  <a:srgbClr val="111111"/>
                </a:solidFill>
                <a:latin typeface="Times New Roman"/>
                <a:ea typeface="Times New Roman"/>
                <a:cs typeface="Times New Roman"/>
              </a:defRPr>
            </a:pPr>
            <a:r>
              <a:rPr sz="600" b="1" i="0">
                <a:solidFill>
                  <a:srgbClr val="111111"/>
                </a:solidFill>
                <a:latin typeface="Times New Roman"/>
                <a:ea typeface="Times New Roman"/>
                <a:cs typeface="Times New Roman"/>
              </a:rPr>
              <a:t>Assessment Year: 2026-27</a:t>
            </a:r>
          </a:p>
        </p:txBody>
      </p:sp>
      <p:graphicFrame>
        <p:nvGraphicFramePr>
          <p:cNvPr id="28" name=""/>
          <p:cNvGraphicFramePr/>
          <p:nvPr/>
        </p:nvGraphicFramePr>
        <p:xfrm>
          <a:off xmlns:a="http://schemas.openxmlformats.org/drawingml/2006/main" x="266700" y="638175"/>
          <a:ext xmlns:a="http://schemas.openxmlformats.org/drawingml/2006/main" cx="7029450" cy="2476500"/>
        </p:xfrm>
        <a:graphic xmlns:a="http://schemas.openxmlformats.org/drawingml/2006/main">
          <a:graphicData uri="http://schemas.openxmlformats.org/drawingml/2006/table">
            <a:tbl>
              <a:tblPr/>
              <a:tblGrid>
                <a:gridCol w="638175"/>
                <a:gridCol w="1524000"/>
                <a:gridCol w="1323975"/>
                <a:gridCol w="1304925"/>
                <a:gridCol w="1133475"/>
                <a:gridCol w="1104900"/>
              </a:tblGrid>
              <a:tr h="381000">
                <a:tc rowSpan="2">
                  <a:txBody>
                    <a:bodyPr wrap="square" lIns="19050" tIns="9525" rIns="19050" bIns="9525">
                      <a:normAutofit/>
                    </a:bodyPr>
                    <a:lstStyle/>
                    <a:p>
                      <a:pPr algn="ctr"/>
                      <a:r>
                        <a:rPr sz="800" b="1">
                          <a:solidFill>
                            <a:srgbClr val="111111"/>
                          </a:solidFill>
                          <a:latin typeface="Times New Roman"/>
                          <a:ea typeface="Times New Roman"/>
                          <a:cs typeface="Times New Roman"/>
                        </a:rPr>
                        <a:t>Sl. No.</a:t>
                      </a:r>
                    </a:p>
                  </a:txBody>
                  <a:tcPr marL="19050" marR="19050" marT="0" marB="0" anchor="ctr"/>
                </a:tc>
                <a:tc rowSpan="2">
                  <a:txBody>
                    <a:bodyPr wrap="square" lIns="19050" tIns="9525" rIns="19050" bIns="9525">
                      <a:normAutofit/>
                    </a:bodyPr>
                    <a:lstStyle/>
                    <a:p>
                      <a:pPr algn="ctr"/>
                      <a:r>
                        <a:rPr sz="800" b="1">
                          <a:solidFill>
                            <a:srgbClr val="111111"/>
                          </a:solidFill>
                          <a:latin typeface="Times New Roman"/>
                          <a:ea typeface="Times New Roman"/>
                          <a:cs typeface="Times New Roman"/>
                        </a:rPr>
                        <a:t>Tax Deposited in respect of the deductee (Rs.)</a:t>
                      </a:r>
                    </a:p>
                  </a:txBody>
                  <a:tcPr marL="19050" marR="19050" marT="0" marB="0" anchor="ctr"/>
                </a:tc>
                <a:tc gridSpan="4">
                  <a:txBody>
                    <a:bodyPr wrap="square" lIns="19050" tIns="9525" rIns="19050" bIns="9525">
                      <a:normAutofit/>
                    </a:bodyPr>
                    <a:lstStyle/>
                    <a:p>
                      <a:pPr algn="ctr"/>
                      <a:r>
                        <a:rPr sz="800" b="1">
                          <a:solidFill>
                            <a:srgbClr val="111111"/>
                          </a:solidFill>
                          <a:latin typeface="Times New Roman"/>
                          <a:ea typeface="Times New Roman"/>
                          <a:cs typeface="Times New Roman"/>
                        </a:rPr>
                        <a:t>Challan Identification Number (CIN)</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h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r>
              <a:tr h="381000">
                <a:tc v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vMerge="1">
                  <a:txBody>
                    <a:bodyPr wrap="square" lIns="19050" tIns="9525" rIns="19050" bIns="9525">
                      <a:normAutofit/>
                    </a:bodyPr>
                    <a:lstStyle/>
                    <a:p>
                      <a:r>
                        <a:rPr sz="800" b="1">
                          <a:solidFill>
                            <a:srgbClr val="111111"/>
                          </a:solidFill>
                          <a:latin typeface="Times New Roman"/>
                          <a:ea typeface="Times New Roman"/>
                          <a:cs typeface="Times New Roman"/>
                        </a:rPr>
                        <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BSR Code of the Bank Branch</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Date on which Tax deposited (dd/mm/yyyy)</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Challan Serial Number</a:t>
                      </a:r>
                    </a:p>
                  </a:txBody>
                  <a:tcPr marL="19050" marR="19050" marT="0" marB="0" anchor="ctr"/>
                </a:tc>
                <a:tc>
                  <a:txBody>
                    <a:bodyPr wrap="square" lIns="19050" tIns="9525" rIns="19050" bIns="9525">
                      <a:normAutofit/>
                    </a:bodyPr>
                    <a:lstStyle/>
                    <a:p>
                      <a:pPr algn="ctr"/>
                      <a:r>
                        <a:rPr sz="800" b="1">
                          <a:solidFill>
                            <a:srgbClr val="111111"/>
                          </a:solidFill>
                          <a:latin typeface="Times New Roman"/>
                          <a:ea typeface="Times New Roman"/>
                          <a:cs typeface="Times New Roman"/>
                        </a:rPr>
                        <a:t>Status of matching with OLTAS*</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12-08-2025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6</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18-09-2025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7</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14-10-2025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8</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21-11-2025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9</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16-12-2025</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10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19-01-2026</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11</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13-02-2026</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770">
                          <a:solidFill>
                            <a:srgbClr val="111111"/>
                          </a:solidFill>
                          <a:latin typeface="Times New Roman"/>
                          <a:ea typeface="Times New Roman"/>
                          <a:cs typeface="Times New Roman"/>
                        </a:rPr>
                        <a:t>12</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0.00</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17-03-2026</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a:t>
                      </a:r>
                    </a:p>
                  </a:txBody>
                  <a:tcPr marL="19050" marR="19050" marT="0" marB="0" anchor="ctr"/>
                </a:tc>
                <a:tc>
                  <a:txBody>
                    <a:bodyPr wrap="square" lIns="19050" tIns="9525" rIns="19050" bIns="9525">
                      <a:normAutofit/>
                    </a:bodyPr>
                    <a:lstStyle/>
                    <a:p>
                      <a:pPr algn="ctr"/>
                      <a:r>
                        <a:rPr sz="770">
                          <a:solidFill>
                            <a:srgbClr val="111111"/>
                          </a:solidFill>
                          <a:latin typeface="Times New Roman"/>
                          <a:ea typeface="Times New Roman"/>
                          <a:cs typeface="Times New Roman"/>
                        </a:rPr>
                        <a:t>F</a:t>
                      </a:r>
                    </a:p>
                  </a:txBody>
                  <a:tcPr marL="19050" marR="19050" marT="0" marB="0" anchor="ctr"/>
                </a:tc>
              </a:tr>
              <a:tr h="190500">
                <a:tc>
                  <a:txBody>
                    <a:bodyPr wrap="square" lIns="19050" tIns="9525" rIns="19050" bIns="9525">
                      <a:normAutofit/>
                    </a:bodyPr>
                    <a:lstStyle/>
                    <a:p>
                      <a:pPr algn="ctr"/>
                      <a:r>
                        <a:rPr sz="800" b="1">
                          <a:solidFill>
                            <a:srgbClr val="111111"/>
                          </a:solidFill>
                          <a:latin typeface="Times New Roman"/>
                          <a:ea typeface="Times New Roman"/>
                          <a:cs typeface="Times New Roman"/>
                        </a:rPr>
                        <a:t>Total (Rs.)</a:t>
                      </a:r>
                    </a:p>
                  </a:txBody>
                  <a:tcPr marL="19050" marR="19050" marT="0" marB="0" anchor="ctr">
                    <a:solidFill>
                      <a:srgbClr val="F7F7F7"/>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0.00</a:t>
                      </a:r>
                    </a:p>
                  </a:txBody>
                  <a:tcPr marL="19050" marR="19050" marT="0" marB="0" anchor="ctr">
                    <a:solidFill>
                      <a:srgbClr val="F7F7F7"/>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a:t>
                      </a:r>
                    </a:p>
                  </a:txBody>
                  <a:tcPr marL="19050" marR="19050" marT="0" marB="0" anchor="ctr">
                    <a:solidFill>
                      <a:srgbClr val="F7F7F7"/>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a:t>
                      </a:r>
                    </a:p>
                  </a:txBody>
                  <a:tcPr marL="19050" marR="19050" marT="0" marB="0" anchor="ctr">
                    <a:solidFill>
                      <a:srgbClr val="F7F7F7"/>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a:t>
                      </a:r>
                    </a:p>
                  </a:txBody>
                  <a:tcPr marL="19050" marR="19050" marT="0" marB="0" anchor="ctr">
                    <a:solidFill>
                      <a:srgbClr val="F7F7F7"/>
                    </a:solidFill>
                  </a:tcPr>
                </a:tc>
                <a:tc>
                  <a:txBody>
                    <a:bodyPr wrap="square" lIns="19050" tIns="9525" rIns="19050" bIns="9525">
                      <a:normAutofit/>
                    </a:bodyPr>
                    <a:lstStyle/>
                    <a:p>
                      <a:pPr algn="ctr"/>
                      <a:r>
                        <a:rPr sz="800" b="1">
                          <a:solidFill>
                            <a:srgbClr val="111111"/>
                          </a:solidFill>
                          <a:latin typeface="Times New Roman"/>
                          <a:ea typeface="Times New Roman"/>
                          <a:cs typeface="Times New Roman"/>
                        </a:rPr>
                        <a:t>-</a:t>
                      </a:r>
                    </a:p>
                  </a:txBody>
                  <a:tcPr marL="19050" marR="19050" marT="0" marB="0" anchor="ctr">
                    <a:solidFill>
                      <a:srgbClr val="F7F7F7"/>
                    </a:solidFill>
                  </a:tcPr>
                </a:tc>
              </a:tr>
            </a:tbl>
          </a:graphicData>
        </a:graphic>
      </p:graphicFrame>
      <p:sp>
        <p:nvSpPr>
          <p:cNvPr id="9" name="">
            <a:extLst xmlns:a="http://schemas.openxmlformats.org/drawingml/2006/main">
              <a:ext uri="{FF2B5EF4-FFF2-40B4-BE49-F238E27FC236}">
                <a16:creationId xmlns:a16="http://schemas.microsoft.com/office/drawing/2014/main" id="{14B1B5B8-264F-40C5-AFCC-9203125E2930}"/>
              </a:ext>
            </a:extLst>
          </p:cNvPr>
          <p:cNvSpPr>
            <a:spLocks xmlns:a="http://schemas.openxmlformats.org/drawingml/2006/main" noGrp="1"/>
          </p:cNvSpPr>
          <p:nvPr/>
        </p:nvSpPr>
        <p:spPr>
          <a:xfrm xmlns:a="http://schemas.openxmlformats.org/drawingml/2006/main">
            <a:off x="266700" y="3114675"/>
            <a:ext cx="7029450" cy="1019175"/>
          </a:xfrm>
          <a:prstGeom xmlns:a="http://schemas.openxmlformats.org/drawingml/2006/main" prst="rect">
            <a:avLst/>
          </a:prstGeom>
          <a:noFill xmlns:a="http://schemas.openxmlformats.org/drawingml/2006/main"/>
          <a:ln xmlns:a="http://schemas.openxmlformats.org/drawingml/2006/main" w="8573">
            <a:solidFill>
              <a:srgbClr val="111111"/>
            </a:solidFill>
            <a:prstDash val="solid"/>
          </a:ln>
        </p:spPr>
      </p:sp>
      <p:sp>
        <p:nvSpPr>
          <p:cNvPr id="10" name="">
            <a:extLst xmlns:a="http://schemas.openxmlformats.org/drawingml/2006/main">
              <a:ext uri="{FF2B5EF4-FFF2-40B4-BE49-F238E27FC236}">
                <a16:creationId xmlns:a16="http://schemas.microsoft.com/office/drawing/2014/main" id="{3BD6569D-8E0E-4327-9648-4162E430B71C}"/>
              </a:ext>
            </a:extLst>
          </p:cNvPr>
          <p:cNvSpPr>
            <a:spLocks xmlns:a="http://schemas.openxmlformats.org/drawingml/2006/main" noGrp="1"/>
          </p:cNvSpPr>
          <p:nvPr/>
        </p:nvSpPr>
        <p:spPr>
          <a:xfrm xmlns:a="http://schemas.openxmlformats.org/drawingml/2006/main" rot="0">
            <a:off x="266700" y="3114675"/>
            <a:ext cx="702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ctr">
              <a:lnSpc>
                <a:spcPct val="100000"/>
              </a:lnSpc>
              <a:buNone/>
              <a:defRPr sz="1000" b="1" i="0">
                <a:solidFill>
                  <a:srgbClr val="111111"/>
                </a:solidFill>
                <a:latin typeface="Times New Roman"/>
                <a:ea typeface="Times New Roman"/>
                <a:cs typeface="Times New Roman"/>
              </a:defRPr>
            </a:pPr>
            <a:r>
              <a:rPr sz="1000" b="1" i="0">
                <a:solidFill>
                  <a:srgbClr val="111111"/>
                </a:solidFill>
                <a:latin typeface="Times New Roman"/>
                <a:ea typeface="Times New Roman"/>
                <a:cs typeface="Times New Roman"/>
              </a:rPr>
              <a:t>Verification</a:t>
            </a:r>
          </a:p>
        </p:txBody>
      </p:sp>
      <p:sp>
        <p:nvSpPr>
          <p:cNvPr id="11" name="">
            <a:extLst xmlns:a="http://schemas.openxmlformats.org/drawingml/2006/main">
              <a:ext uri="{FF2B5EF4-FFF2-40B4-BE49-F238E27FC236}">
                <a16:creationId xmlns:a16="http://schemas.microsoft.com/office/drawing/2014/main" id="{A4B52CF4-7C4E-4A89-9BB0-A434FF155ADF}"/>
              </a:ext>
            </a:extLst>
          </p:cNvPr>
          <p:cNvSpPr>
            <a:spLocks xmlns:a="http://schemas.openxmlformats.org/drawingml/2006/main" noGrp="1"/>
          </p:cNvSpPr>
          <p:nvPr/>
        </p:nvSpPr>
        <p:spPr>
          <a:xfrm xmlns:a="http://schemas.openxmlformats.org/drawingml/2006/main" rot="0">
            <a:off x="304800" y="3390900"/>
            <a:ext cx="695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rmAutofit fontScale="100000"/>
          </a:bodyPr>
          <a:lstStyle xmlns:a="http://schemas.openxmlformats.org/drawingml/2006/main"/>
          <a:p xmlns:a="http://schemas.openxmlformats.org/drawingml/2006/main">
            <a:pPr algn="l">
              <a:defRPr sz="700" b="0" i="0">
                <a:solidFill>
                  <a:srgbClr val="111111"/>
                </a:solidFill>
                <a:latin typeface="Times New Roman"/>
                <a:ea typeface="Times New Roman"/>
                <a:cs typeface="Times New Roman"/>
              </a:defRPr>
            </a:pPr>
            <a:r>
              <a:t>I, </a:t>
            </a:r>
            <a:r>
              <a:rPr b="1"/>
              <a:t>PEMARAM</a:t>
            </a:r>
            <a:r>
              <a:t>, </a:t>
            </a:r>
            <a:r>
              <a:rPr b="1"/>
              <a:t>Chief Executive Officer (CEO), Jekmind Education</a:t>
            </a:r>
            <a:r>
              <a:t>, do hereby certify that the Gross Salary was </a:t>
            </a:r>
            <a:r>
              <a:rPr b="1"/>
              <a:t>Rs. 5,99,500</a:t>
            </a:r>
            <a:r>
              <a:t>, standard deduction under Section 16(ia) was </a:t>
            </a:r>
            <a:r>
              <a:rPr b="1"/>
              <a:t>Rs. 75,000</a:t>
            </a:r>
            <a:r>
              <a:t>, and the taxable income was </a:t>
            </a:r>
            <a:r>
              <a:rPr b="1"/>
              <a:t>Rs. 5,24,500</a:t>
            </a:r>
            <a:r>
              <a:t>.</a:t>
            </a:r>
          </a:p>
          <a:p xmlns:a="http://schemas.openxmlformats.org/drawingml/2006/main">
            <a:pPr algn="l">
              <a:defRPr sz="700" b="0" i="0">
                <a:solidFill>
                  <a:srgbClr val="111111"/>
                </a:solidFill>
                <a:latin typeface="Times New Roman"/>
                <a:ea typeface="Times New Roman"/>
                <a:cs typeface="Times New Roman"/>
              </a:defRPr>
            </a:pPr>
            <a:r>
              <a:t>I further certify that the tax before rebate was </a:t>
            </a:r>
            <a:r>
              <a:rPr b="1"/>
              <a:t>Rs. 6,225</a:t>
            </a:r>
            <a:r>
              <a:t>, rebate under Section 87A was </a:t>
            </a:r>
            <a:r>
              <a:rPr b="1"/>
              <a:t>Rs. 6,225</a:t>
            </a:r>
            <a:r>
              <a:t>, cess was </a:t>
            </a:r>
            <a:r>
              <a:rPr b="1"/>
              <a:t>Rs. 0</a:t>
            </a:r>
            <a:r>
              <a:t>, and the net tax/TDS was </a:t>
            </a:r>
            <a:r>
              <a:rPr b="1"/>
              <a:t>Rs. 0</a:t>
            </a:r>
            <a:r>
              <a:t>.</a:t>
            </a:r>
          </a:p>
        </p:txBody>
      </p:sp>
      <p:graphicFrame>
        <p:nvGraphicFramePr>
          <p:cNvPr id="32" name=""/>
          <p:cNvGraphicFramePr/>
          <p:nvPr/>
        </p:nvGraphicFramePr>
        <p:xfrm>
          <a:off xmlns:a="http://schemas.openxmlformats.org/drawingml/2006/main" x="266700" y="4133850"/>
          <a:ext xmlns:a="http://schemas.openxmlformats.org/drawingml/2006/main" cx="7029450" cy="762000"/>
        </p:xfrm>
        <a:graphic xmlns:a="http://schemas.openxmlformats.org/drawingml/2006/main">
          <a:graphicData uri="http://schemas.openxmlformats.org/drawingml/2006/table">
            <a:tbl>
              <a:tblPr/>
              <a:tblGrid>
                <a:gridCol w="790575"/>
                <a:gridCol w="2514600"/>
                <a:gridCol w="3724275"/>
              </a:tblGrid>
              <a:tr h="257175">
                <a:tc>
                  <a:txBody>
                    <a:bodyPr wrap="square" lIns="19050" tIns="9525" rIns="19050" bIns="9525">
                      <a:normAutofit/>
                    </a:bodyPr>
                    <a:lstStyle/>
                    <a:p>
                      <a:pPr algn="ctr"/>
                      <a:r>
                        <a:rPr sz="800">
                          <a:solidFill>
                            <a:srgbClr val="111111"/>
                          </a:solidFill>
                          <a:latin typeface="Times New Roman"/>
                          <a:ea typeface="Times New Roman"/>
                          <a:cs typeface="Times New Roman"/>
                        </a:rPr>
                        <a:t>Place</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JAIPUR</a:t>
                      </a:r>
                    </a:p>
                  </a:txBody>
                  <a:tcPr marL="19050" marR="19050" marT="0" marB="0" anchor="ctr"/>
                </a:tc>
                <a:tc>
                  <a:txBody>
                    <a:bodyPr wrap="square" lIns="19050" tIns="9525" rIns="19050" bIns="9525">
                      <a:normAutofit/>
                    </a:bodyPr>
                    <a:lstStyle/>
                    <a:p>
                      <a:r>
                        <a:rPr sz="800">
                          <a:solidFill>
                            <a:srgbClr val="111111"/>
                          </a:solidFill>
                          <a:latin typeface="Times New Roman"/>
                          <a:ea typeface="Times New Roman"/>
                          <a:cs typeface="Times New Roman"/>
                        </a:rPr>
                        <a:t/>
                      </a:r>
                    </a:p>
                  </a:txBody>
                  <a:tcPr marL="19050" marR="19050" marT="0" marB="0" anchor="ctr"/>
                </a:tc>
              </a:tr>
              <a:tr h="257175">
                <a:tc>
                  <a:txBody>
                    <a:bodyPr wrap="square" lIns="19050" tIns="9525" rIns="19050" bIns="9525">
                      <a:normAutofit/>
                    </a:bodyPr>
                    <a:lstStyle/>
                    <a:p>
                      <a:pPr algn="ctr"/>
                      <a:r>
                        <a:rPr sz="800">
                          <a:solidFill>
                            <a:srgbClr val="111111"/>
                          </a:solidFill>
                          <a:latin typeface="Times New Roman"/>
                          <a:ea typeface="Times New Roman"/>
                          <a:cs typeface="Times New Roman"/>
                        </a:rPr>
                        <a:t>Date</a:t>
                      </a:r>
                    </a:p>
                  </a:txBody>
                  <a:tcPr marL="19050" marR="19050" marT="0" marB="0" anchor="ctr"/>
                </a:tc>
                <a:tc>
                  <a:txBody>
                    <a:bodyPr wrap="square" lIns="19050" tIns="9525" rIns="19050" bIns="9525">
                      <a:normAutofit/>
                    </a:bodyPr>
                    <a:lstStyle/>
                    <a:p>
                      <a:pPr algn="ctr"/>
                      <a:r>
                        <a:rPr sz="800">
                          <a:solidFill>
                            <a:srgbClr val="111111"/>
                          </a:solidFill>
                          <a:latin typeface="Times New Roman"/>
                          <a:ea typeface="Times New Roman"/>
                          <a:cs typeface="Times New Roman"/>
                        </a:rPr>
                        <a:t>17-May-2026</a:t>
                      </a:r>
                    </a:p>
                  </a:txBody>
                  <a:tcPr marL="19050" marR="19050" marT="0" marB="0" anchor="ctr"/>
                </a:tc>
                <a:tc>
                  <a:txBody>
                    <a:bodyPr wrap="square" lIns="19050" tIns="9525" rIns="19050" bIns="9525">
                      <a:normAutofit/>
                    </a:bodyPr>
                    <a:lstStyle/>
                    <a:p>
                      <a:pPr algn="ctr"/>
                      <a:r>
                        <a:rPr sz="700">
                          <a:solidFill>
                            <a:srgbClr val="111111"/>
                          </a:solidFill>
                          <a:latin typeface="Times New Roman"/>
                          <a:ea typeface="Times New Roman"/>
                          <a:cs typeface="Times New Roman"/>
                        </a:rPr>
                        <a:t>(Signature of person responsible for deduction of Tax)</a:t>
                      </a:r>
                    </a:p>
                  </a:txBody>
                  <a:tcPr marL="19050" marR="19050" marT="0" marB="0" anchor="ctr"/>
                </a:tc>
              </a:tr>
              <a:tr h="247650">
                <a:tc gridSpan="2">
                  <a:txBody>
                    <a:bodyPr wrap="square" lIns="19050" tIns="9525" rIns="19050" bIns="9525">
                      <a:normAutofit/>
                    </a:bodyPr>
                    <a:lstStyle/>
                    <a:p>
                      <a:pPr algn="l"/>
                      <a:r>
                        <a:rPr sz="800">
                          <a:solidFill>
                            <a:srgbClr val="111111"/>
                          </a:solidFill>
                          <a:latin typeface="Times New Roman"/>
                          <a:ea typeface="Times New Roman"/>
                          <a:cs typeface="Times New Roman"/>
                        </a:rPr>
                        <a:t>Designation: CEO</a:t>
                      </a:r>
                    </a:p>
                  </a:txBody>
                  <a:tcPr marL="19050" marR="19050" marT="0" marB="0" anchor="ctr"/>
                </a:tc>
                <a:tc hMerge="1">
                  <a:txBody>
                    <a:bodyPr wrap="square" lIns="19050" tIns="9525" rIns="19050" bIns="9525">
                      <a:normAutofit/>
                    </a:bodyPr>
                    <a:lstStyle/>
                    <a:p>
                      <a:r>
                        <a:rPr sz="800">
                          <a:solidFill>
                            <a:srgbClr val="111111"/>
                          </a:solidFill>
                          <a:latin typeface="Times New Roman"/>
                          <a:ea typeface="Times New Roman"/>
                          <a:cs typeface="Times New Roman"/>
                        </a:rPr>
                        <a:t/>
                      </a:r>
                    </a:p>
                  </a:txBody>
                  <a:tcPr marL="19050" marR="19050" marT="0" marB="0" anchor="ctr"/>
                </a:tc>
                <a:tc>
                  <a:txBody>
                    <a:bodyPr wrap="square" lIns="19050" tIns="9525" rIns="19050" bIns="9525">
                      <a:normAutofit/>
                    </a:bodyPr>
                    <a:lstStyle/>
                    <a:p>
                      <a:pPr algn="l"/>
                      <a:r>
                        <a:rPr sz="800">
                          <a:solidFill>
                            <a:srgbClr val="111111"/>
                          </a:solidFill>
                          <a:latin typeface="Times New Roman"/>
                          <a:ea typeface="Times New Roman"/>
                          <a:cs typeface="Times New Roman"/>
                        </a:rPr>
                        <a:t>Full Name: PEMARAM</a:t>
                      </a:r>
                    </a:p>
                  </a:txBody>
                  <a:tcPr marL="19050" marR="19050" marT="0" marB="0" anchor="ctr"/>
                </a:tc>
              </a:tr>
            </a:tbl>
          </a:graphicData>
        </a:graphic>
      </p:graphicFrame>
      <p:sp>
        <p:nvSpPr>
          <p:cNvPr id="13" name="">
            <a:extLst xmlns:a="http://schemas.openxmlformats.org/drawingml/2006/main">
              <a:ext uri="{FF2B5EF4-FFF2-40B4-BE49-F238E27FC236}">
                <a16:creationId xmlns:a16="http://schemas.microsoft.com/office/drawing/2014/main" id="{E0F81A9A-8B82-49FB-8357-5EB52273F13D}"/>
              </a:ext>
            </a:extLst>
          </p:cNvPr>
          <p:cNvSpPr>
            <a:spLocks xmlns:a="http://schemas.openxmlformats.org/drawingml/2006/main" noGrp="1"/>
          </p:cNvSpPr>
          <p:nvPr/>
        </p:nvSpPr>
        <p:spPr>
          <a:xfrm xmlns:a="http://schemas.openxmlformats.org/drawingml/2006/main" rot="0">
            <a:off x="266700" y="5019675"/>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l">
              <a:lnSpc>
                <a:spcPct val="100000"/>
              </a:lnSpc>
              <a:buNone/>
              <a:defRPr sz="800" b="1" i="0">
                <a:solidFill>
                  <a:srgbClr val="111111"/>
                </a:solidFill>
                <a:latin typeface="Times New Roman"/>
                <a:ea typeface="Times New Roman"/>
                <a:cs typeface="Times New Roman"/>
              </a:defRPr>
            </a:pPr>
            <a:r>
              <a:rPr sz="800" b="1" i="0">
                <a:solidFill>
                  <a:srgbClr val="111111"/>
                </a:solidFill>
                <a:latin typeface="Times New Roman"/>
                <a:ea typeface="Times New Roman"/>
                <a:cs typeface="Times New Roman"/>
              </a:rPr>
              <a:t>Notes:</a:t>
            </a:r>
          </a:p>
        </p:txBody>
      </p:sp>
      <p:sp>
        <p:nvSpPr>
          <p:cNvPr id="14" name="">
            <a:extLst xmlns:a="http://schemas.openxmlformats.org/drawingml/2006/main">
              <a:ext uri="{FF2B5EF4-FFF2-40B4-BE49-F238E27FC236}">
                <a16:creationId xmlns:a16="http://schemas.microsoft.com/office/drawing/2014/main" id="{D3771BD2-7C23-444A-AE57-970DC7E9E0E6}"/>
              </a:ext>
            </a:extLst>
          </p:cNvPr>
          <p:cNvSpPr>
            <a:spLocks xmlns:a="http://schemas.openxmlformats.org/drawingml/2006/main" noGrp="1"/>
          </p:cNvSpPr>
          <p:nvPr/>
        </p:nvSpPr>
        <p:spPr>
          <a:xfrm xmlns:a="http://schemas.openxmlformats.org/drawingml/2006/main" rot="0">
            <a:off x="266700" y="5200650"/>
            <a:ext cx="7029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rmAutofit fontScale="100000"/>
          </a:bodyPr>
          <a:lstStyle xmlns:a="http://schemas.openxmlformats.org/drawingml/2006/main"/>
          <a:p xmlns:a="http://schemas.openxmlformats.org/drawingml/2006/main">
            <a:pPr algn="l">
              <a:lnSpc>
                <a:spcPct val="100000"/>
              </a:lnSpc>
              <a:buNone/>
              <a:defRPr sz="700" b="0" i="0">
                <a:solidFill>
                  <a:srgbClr val="111111"/>
                </a:solidFill>
                <a:latin typeface="Times New Roman"/>
                <a:ea typeface="Times New Roman"/>
                <a:cs typeface="Times New Roman"/>
              </a:defRPr>
            </a:pPr>
            <a:r>
              <a:rPr sz="700" b="0" i="0">
                <a:solidFill>
                  <a:srgbClr val="111111"/>
                </a:solidFill>
                <a:latin typeface="Times New Roman"/>
                <a:ea typeface="Times New Roman"/>
                <a:cs typeface="Times New Roman"/>
              </a:rPr>
              <a:t>1. Part B (Annexure) of the certificate in Form No.16 shall be issued by the employer.</a:t>
            </a:r>
          </a:p>
          <a:p xmlns:a="http://schemas.openxmlformats.org/drawingml/2006/main">
            <a:pPr algn="l">
              <a:lnSpc>
                <a:spcPct val="100000"/>
              </a:lnSpc>
              <a:buNone/>
              <a:defRPr sz="700" b="0" i="0">
                <a:solidFill>
                  <a:srgbClr val="111111"/>
                </a:solidFill>
                <a:latin typeface="Times New Roman"/>
                <a:ea typeface="Times New Roman"/>
                <a:cs typeface="Times New Roman"/>
              </a:defRPr>
            </a:pPr>
            <a:r>
              <a:rPr sz="700" b="0" i="0">
                <a:solidFill>
                  <a:srgbClr val="111111"/>
                </a:solidFill>
                <a:latin typeface="Times New Roman"/>
                <a:ea typeface="Times New Roman"/>
                <a:cs typeface="Times New Roman"/>
              </a:rPr>
              <a:t>2. If an assessee is employed under one employer during the year, Part 'A' of the certificate in Form No.16 issued for the quarter ending on 31st March of the financial year shall contain the details of tax deducted and deposited for all the quarters of the financial year.</a:t>
            </a:r>
          </a:p>
          <a:p xmlns:a="http://schemas.openxmlformats.org/drawingml/2006/main">
            <a:pPr algn="l">
              <a:lnSpc>
                <a:spcPct val="100000"/>
              </a:lnSpc>
              <a:buNone/>
              <a:defRPr sz="700" b="0" i="0">
                <a:solidFill>
                  <a:srgbClr val="111111"/>
                </a:solidFill>
                <a:latin typeface="Times New Roman"/>
                <a:ea typeface="Times New Roman"/>
                <a:cs typeface="Times New Roman"/>
              </a:defRPr>
            </a:pPr>
            <a:r>
              <a:rPr sz="700" b="0" i="0">
                <a:solidFill>
                  <a:srgbClr val="111111"/>
                </a:solidFill>
                <a:latin typeface="Times New Roman"/>
                <a:ea typeface="Times New Roman"/>
                <a:cs typeface="Times New Roman"/>
              </a:rPr>
              <a:t>3. If an assessee is employed under more than one employer during the year, each employer shall issue Part A of the certificate for the relevant period. Part B may be issued by each employer or the last employer at the option of the assessee.</a:t>
            </a:r>
          </a:p>
          <a:p xmlns:a="http://schemas.openxmlformats.org/drawingml/2006/main">
            <a:pPr algn="l">
              <a:lnSpc>
                <a:spcPct val="100000"/>
              </a:lnSpc>
              <a:buNone/>
              <a:defRPr sz="700" b="0" i="0">
                <a:solidFill>
                  <a:srgbClr val="111111"/>
                </a:solidFill>
                <a:latin typeface="Times New Roman"/>
                <a:ea typeface="Times New Roman"/>
                <a:cs typeface="Times New Roman"/>
              </a:defRPr>
            </a:pPr>
            <a:r>
              <a:rPr sz="700" b="0" i="0">
                <a:solidFill>
                  <a:srgbClr val="111111"/>
                </a:solidFill>
                <a:latin typeface="Times New Roman"/>
                <a:ea typeface="Times New Roman"/>
                <a:cs typeface="Times New Roman"/>
              </a:rPr>
              <a:t>4. To update PAN details in Income Tax Department database, apply for 'PAN change request' through NSDL or UTIITSL.</a:t>
            </a:r>
          </a:p>
        </p:txBody>
      </p:sp>
      <p:sp>
        <p:nvSpPr>
          <p:cNvPr id="15" name="">
            <a:extLst xmlns:a="http://schemas.openxmlformats.org/drawingml/2006/main">
              <a:ext uri="{FF2B5EF4-FFF2-40B4-BE49-F238E27FC236}">
                <a16:creationId xmlns:a16="http://schemas.microsoft.com/office/drawing/2014/main" id="{D39996A4-CBE6-44BF-832D-C41A56CF761D}"/>
              </a:ext>
            </a:extLst>
          </p:cNvPr>
          <p:cNvSpPr>
            <a:spLocks xmlns:a="http://schemas.openxmlformats.org/drawingml/2006/main" noGrp="1"/>
          </p:cNvSpPr>
          <p:nvPr/>
        </p:nvSpPr>
        <p:spPr>
          <a:xfrm xmlns:a="http://schemas.openxmlformats.org/drawingml/2006/main" rot="0">
            <a:off x="266700" y="6105525"/>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l">
              <a:lnSpc>
                <a:spcPct val="100000"/>
              </a:lnSpc>
              <a:buNone/>
              <a:defRPr sz="800" b="1" i="0">
                <a:solidFill>
                  <a:srgbClr val="111111"/>
                </a:solidFill>
                <a:latin typeface="Times New Roman"/>
                <a:ea typeface="Times New Roman"/>
                <a:cs typeface="Times New Roman"/>
              </a:defRPr>
            </a:pPr>
            <a:r>
              <a:rPr sz="800" b="1" i="0">
                <a:solidFill>
                  <a:srgbClr val="111111"/>
                </a:solidFill>
                <a:latin typeface="Times New Roman"/>
                <a:ea typeface="Times New Roman"/>
                <a:cs typeface="Times New Roman"/>
              </a:rPr>
              <a:t>Legend used in Form 16</a:t>
            </a:r>
          </a:p>
        </p:txBody>
      </p:sp>
      <p:sp>
        <p:nvSpPr>
          <p:cNvPr id="16" name="">
            <a:extLst xmlns:a="http://schemas.openxmlformats.org/drawingml/2006/main">
              <a:ext uri="{FF2B5EF4-FFF2-40B4-BE49-F238E27FC236}">
                <a16:creationId xmlns:a16="http://schemas.microsoft.com/office/drawing/2014/main" id="{CDC758F4-0F2E-44E6-978C-16FB66937EF6}"/>
              </a:ext>
            </a:extLst>
          </p:cNvPr>
          <p:cNvSpPr>
            <a:spLocks xmlns:a="http://schemas.openxmlformats.org/drawingml/2006/main" noGrp="1"/>
          </p:cNvSpPr>
          <p:nvPr/>
        </p:nvSpPr>
        <p:spPr>
          <a:xfrm xmlns:a="http://schemas.openxmlformats.org/drawingml/2006/main" rot="0">
            <a:off x="342900" y="6343650"/>
            <a:ext cx="2333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l">
              <a:lnSpc>
                <a:spcPct val="100000"/>
              </a:lnSpc>
              <a:buNone/>
              <a:defRPr sz="800" b="0" i="0">
                <a:solidFill>
                  <a:srgbClr val="111111"/>
                </a:solidFill>
                <a:latin typeface="Times New Roman"/>
                <a:ea typeface="Times New Roman"/>
                <a:cs typeface="Times New Roman"/>
              </a:defRPr>
            </a:pPr>
            <a:r>
              <a:rPr sz="800" b="0" i="0">
                <a:solidFill>
                  <a:srgbClr val="111111"/>
                </a:solidFill>
                <a:latin typeface="Times New Roman"/>
                <a:ea typeface="Times New Roman"/>
                <a:cs typeface="Times New Roman"/>
              </a:rPr>
              <a:t>* Status of matching with OLTAS</a:t>
            </a:r>
          </a:p>
        </p:txBody>
      </p:sp>
      <p:graphicFrame>
        <p:nvGraphicFramePr>
          <p:cNvPr id="37" name=""/>
          <p:cNvGraphicFramePr/>
          <p:nvPr/>
        </p:nvGraphicFramePr>
        <p:xfrm>
          <a:off xmlns:a="http://schemas.openxmlformats.org/drawingml/2006/main" x="342900" y="6448425"/>
          <a:ext xmlns:a="http://schemas.openxmlformats.org/drawingml/2006/main" cx="6953250" cy="1400175"/>
        </p:xfrm>
        <a:graphic xmlns:a="http://schemas.openxmlformats.org/drawingml/2006/main">
          <a:graphicData uri="http://schemas.openxmlformats.org/drawingml/2006/table">
            <a:tbl>
              <a:tblPr/>
              <a:tblGrid>
                <a:gridCol w="609600"/>
                <a:gridCol w="762000"/>
                <a:gridCol w="5581650"/>
              </a:tblGrid>
              <a:tr h="209550">
                <a:tc>
                  <a:txBody>
                    <a:bodyPr wrap="square" lIns="19050" tIns="9525" rIns="19050" bIns="9525">
                      <a:normAutofit/>
                    </a:bodyPr>
                    <a:lstStyle/>
                    <a:p>
                      <a:pPr algn="ctr"/>
                      <a:r>
                        <a:rPr sz="730" b="1">
                          <a:solidFill>
                            <a:srgbClr val="111111"/>
                          </a:solidFill>
                          <a:latin typeface="Times New Roman"/>
                          <a:ea typeface="Times New Roman"/>
                          <a:cs typeface="Times New Roman"/>
                        </a:rPr>
                        <a:t>Legend</a:t>
                      </a:r>
                    </a:p>
                  </a:txBody>
                  <a:tcPr marL="19050" marR="19050" marT="0" marB="0" anchor="ctr">
                    <a:solidFill>
                      <a:srgbClr val="D9E8F7"/>
                    </a:solidFill>
                  </a:tcPr>
                </a:tc>
                <a:tc>
                  <a:txBody>
                    <a:bodyPr wrap="square" lIns="19050" tIns="9525" rIns="19050" bIns="9525">
                      <a:normAutofit/>
                    </a:bodyPr>
                    <a:lstStyle/>
                    <a:p>
                      <a:pPr algn="ctr"/>
                      <a:r>
                        <a:rPr sz="730" b="1">
                          <a:solidFill>
                            <a:srgbClr val="111111"/>
                          </a:solidFill>
                          <a:latin typeface="Times New Roman"/>
                          <a:ea typeface="Times New Roman"/>
                          <a:cs typeface="Times New Roman"/>
                        </a:rPr>
                        <a:t>Description</a:t>
                      </a:r>
                    </a:p>
                  </a:txBody>
                  <a:tcPr marL="19050" marR="19050" marT="0" marB="0" anchor="ctr">
                    <a:solidFill>
                      <a:srgbClr val="D9E8F7"/>
                    </a:solidFill>
                  </a:tcPr>
                </a:tc>
                <a:tc>
                  <a:txBody>
                    <a:bodyPr wrap="square" lIns="19050" tIns="9525" rIns="19050" bIns="9525">
                      <a:normAutofit/>
                    </a:bodyPr>
                    <a:lstStyle/>
                    <a:p>
                      <a:pPr algn="ctr"/>
                      <a:r>
                        <a:rPr sz="730" b="1">
                          <a:solidFill>
                            <a:srgbClr val="111111"/>
                          </a:solidFill>
                          <a:latin typeface="Times New Roman"/>
                          <a:ea typeface="Times New Roman"/>
                          <a:cs typeface="Times New Roman"/>
                        </a:rPr>
                        <a:t>Definition</a:t>
                      </a:r>
                    </a:p>
                  </a:txBody>
                  <a:tcPr marL="19050" marR="19050" marT="0" marB="0" anchor="ctr">
                    <a:solidFill>
                      <a:srgbClr val="D9E8F7"/>
                    </a:solidFill>
                  </a:tcPr>
                </a:tc>
              </a:tr>
              <a:tr h="300038">
                <a:tc>
                  <a:txBody>
                    <a:bodyPr wrap="square" lIns="19050" tIns="9525" rIns="19050" bIns="9525">
                      <a:normAutofit/>
                    </a:bodyPr>
                    <a:lstStyle/>
                    <a:p>
                      <a:pPr algn="ctr"/>
                      <a:r>
                        <a:rPr sz="700">
                          <a:solidFill>
                            <a:srgbClr val="111111"/>
                          </a:solidFill>
                          <a:latin typeface="Times New Roman"/>
                          <a:ea typeface="Times New Roman"/>
                          <a:cs typeface="Times New Roman"/>
                        </a:rPr>
                        <a:t>U</a:t>
                      </a:r>
                    </a:p>
                  </a:txBody>
                  <a:tcPr marL="19050" marR="19050" marT="0" marB="0" anchor="ctr"/>
                </a:tc>
                <a:tc>
                  <a:txBody>
                    <a:bodyPr wrap="square" lIns="19050" tIns="9525" rIns="19050" bIns="9525">
                      <a:normAutofit/>
                    </a:bodyPr>
                    <a:lstStyle/>
                    <a:p>
                      <a:pPr algn="l"/>
                      <a:r>
                        <a:rPr sz="700">
                          <a:solidFill>
                            <a:srgbClr val="111111"/>
                          </a:solidFill>
                          <a:latin typeface="Times New Roman"/>
                          <a:ea typeface="Times New Roman"/>
                          <a:cs typeface="Times New Roman"/>
                        </a:rPr>
                        <a:t>Unmatched</a:t>
                      </a:r>
                    </a:p>
                  </a:txBody>
                  <a:tcPr marL="19050" marR="19050" marT="0" marB="0" anchor="ctr"/>
                </a:tc>
                <a:tc>
                  <a:txBody>
                    <a:bodyPr wrap="square" lIns="19050" tIns="9525" rIns="19050" bIns="9525">
                      <a:normAutofit/>
                    </a:bodyPr>
                    <a:lstStyle/>
                    <a:p>
                      <a:pPr algn="l"/>
                      <a:r>
                        <a:rPr sz="690">
                          <a:solidFill>
                            <a:srgbClr val="111111"/>
                          </a:solidFill>
                          <a:latin typeface="Times New Roman"/>
                          <a:ea typeface="Times New Roman"/>
                          <a:cs typeface="Times New Roman"/>
                        </a:rPr>
                        <a:t>Deductors have not deposited taxes or furnished correct payment particulars. Final credit is reflected only after matching with authorized bank details.</a:t>
                      </a:r>
                    </a:p>
                  </a:txBody>
                  <a:tcPr marL="19050" marR="19050" marT="0" marB="0" anchor="ctr"/>
                </a:tc>
              </a:tr>
              <a:tr h="300038">
                <a:tc>
                  <a:txBody>
                    <a:bodyPr wrap="square" lIns="19050" tIns="9525" rIns="19050" bIns="9525">
                      <a:normAutofit/>
                    </a:bodyPr>
                    <a:lstStyle/>
                    <a:p>
                      <a:pPr algn="ctr"/>
                      <a:r>
                        <a:rPr sz="700">
                          <a:solidFill>
                            <a:srgbClr val="111111"/>
                          </a:solidFill>
                          <a:latin typeface="Times New Roman"/>
                          <a:ea typeface="Times New Roman"/>
                          <a:cs typeface="Times New Roman"/>
                        </a:rPr>
                        <a:t>P</a:t>
                      </a:r>
                    </a:p>
                  </a:txBody>
                  <a:tcPr marL="19050" marR="19050" marT="0" marB="0" anchor="ctr"/>
                </a:tc>
                <a:tc>
                  <a:txBody>
                    <a:bodyPr wrap="square" lIns="19050" tIns="9525" rIns="19050" bIns="9525">
                      <a:normAutofit/>
                    </a:bodyPr>
                    <a:lstStyle/>
                    <a:p>
                      <a:pPr algn="l"/>
                      <a:r>
                        <a:rPr sz="700">
                          <a:solidFill>
                            <a:srgbClr val="111111"/>
                          </a:solidFill>
                          <a:latin typeface="Times New Roman"/>
                          <a:ea typeface="Times New Roman"/>
                          <a:cs typeface="Times New Roman"/>
                        </a:rPr>
                        <a:t>Provisional</a:t>
                      </a:r>
                    </a:p>
                  </a:txBody>
                  <a:tcPr marL="19050" marR="19050" marT="0" marB="0" anchor="ctr"/>
                </a:tc>
                <a:tc>
                  <a:txBody>
                    <a:bodyPr wrap="square" lIns="19050" tIns="9525" rIns="19050" bIns="9525">
                      <a:normAutofit/>
                    </a:bodyPr>
                    <a:lstStyle/>
                    <a:p>
                      <a:pPr algn="l"/>
                      <a:r>
                        <a:rPr sz="690">
                          <a:solidFill>
                            <a:srgbClr val="111111"/>
                          </a:solidFill>
                          <a:latin typeface="Times New Roman"/>
                          <a:ea typeface="Times New Roman"/>
                          <a:cs typeface="Times New Roman"/>
                        </a:rPr>
                        <a:t>Provisional tax credit is reflected pending verification of payment details; status changes to Final (F) after verification.</a:t>
                      </a:r>
                    </a:p>
                  </a:txBody>
                  <a:tcPr marL="19050" marR="19050" marT="0" marB="0" anchor="ctr"/>
                </a:tc>
              </a:tr>
              <a:tr h="300038">
                <a:tc>
                  <a:txBody>
                    <a:bodyPr wrap="square" lIns="19050" tIns="9525" rIns="19050" bIns="9525">
                      <a:normAutofit/>
                    </a:bodyPr>
                    <a:lstStyle/>
                    <a:p>
                      <a:pPr algn="ctr"/>
                      <a:r>
                        <a:rPr sz="700">
                          <a:solidFill>
                            <a:srgbClr val="111111"/>
                          </a:solidFill>
                          <a:latin typeface="Times New Roman"/>
                          <a:ea typeface="Times New Roman"/>
                          <a:cs typeface="Times New Roman"/>
                        </a:rPr>
                        <a:t>F</a:t>
                      </a:r>
                    </a:p>
                  </a:txBody>
                  <a:tcPr marL="19050" marR="19050" marT="0" marB="0" anchor="ctr"/>
                </a:tc>
                <a:tc>
                  <a:txBody>
                    <a:bodyPr wrap="square" lIns="19050" tIns="9525" rIns="19050" bIns="9525">
                      <a:normAutofit/>
                    </a:bodyPr>
                    <a:lstStyle/>
                    <a:p>
                      <a:pPr algn="l"/>
                      <a:r>
                        <a:rPr sz="700">
                          <a:solidFill>
                            <a:srgbClr val="111111"/>
                          </a:solidFill>
                          <a:latin typeface="Times New Roman"/>
                          <a:ea typeface="Times New Roman"/>
                          <a:cs typeface="Times New Roman"/>
                        </a:rPr>
                        <a:t>Final</a:t>
                      </a:r>
                    </a:p>
                  </a:txBody>
                  <a:tcPr marL="19050" marR="19050" marT="0" marB="0" anchor="ctr"/>
                </a:tc>
                <a:tc>
                  <a:txBody>
                    <a:bodyPr wrap="square" lIns="19050" tIns="9525" rIns="19050" bIns="9525">
                      <a:normAutofit/>
                    </a:bodyPr>
                    <a:lstStyle/>
                    <a:p>
                      <a:pPr algn="l"/>
                      <a:r>
                        <a:rPr sz="690">
                          <a:solidFill>
                            <a:srgbClr val="111111"/>
                          </a:solidFill>
                          <a:latin typeface="Times New Roman"/>
                          <a:ea typeface="Times New Roman"/>
                          <a:cs typeface="Times New Roman"/>
                        </a:rPr>
                        <a:t>For government deductors, payment details match the TDS/TCS statement filed. For non-government deductors, the challan matches bank payment details.</a:t>
                      </a:r>
                    </a:p>
                  </a:txBody>
                  <a:tcPr marL="19050" marR="19050" marT="0" marB="0" anchor="ctr"/>
                </a:tc>
              </a:tr>
              <a:tr h="300038">
                <a:tc>
                  <a:txBody>
                    <a:bodyPr wrap="square" lIns="19050" tIns="9525" rIns="19050" bIns="9525">
                      <a:normAutofit/>
                    </a:bodyPr>
                    <a:lstStyle/>
                    <a:p>
                      <a:pPr algn="ctr"/>
                      <a:r>
                        <a:rPr sz="700">
                          <a:solidFill>
                            <a:srgbClr val="111111"/>
                          </a:solidFill>
                          <a:latin typeface="Times New Roman"/>
                          <a:ea typeface="Times New Roman"/>
                          <a:cs typeface="Times New Roman"/>
                        </a:rPr>
                        <a:t>O</a:t>
                      </a:r>
                    </a:p>
                  </a:txBody>
                  <a:tcPr marL="19050" marR="19050" marT="0" marB="0" anchor="ctr"/>
                </a:tc>
                <a:tc>
                  <a:txBody>
                    <a:bodyPr wrap="square" lIns="19050" tIns="9525" rIns="19050" bIns="9525">
                      <a:normAutofit/>
                    </a:bodyPr>
                    <a:lstStyle/>
                    <a:p>
                      <a:pPr algn="l"/>
                      <a:r>
                        <a:rPr sz="700">
                          <a:solidFill>
                            <a:srgbClr val="111111"/>
                          </a:solidFill>
                          <a:latin typeface="Times New Roman"/>
                          <a:ea typeface="Times New Roman"/>
                          <a:cs typeface="Times New Roman"/>
                        </a:rPr>
                        <a:t>Overbooked</a:t>
                      </a:r>
                    </a:p>
                  </a:txBody>
                  <a:tcPr marL="19050" marR="19050" marT="0" marB="0" anchor="ctr"/>
                </a:tc>
                <a:tc>
                  <a:txBody>
                    <a:bodyPr wrap="square" lIns="19050" tIns="9525" rIns="19050" bIns="9525">
                      <a:normAutofit/>
                    </a:bodyPr>
                    <a:lstStyle/>
                    <a:p>
                      <a:pPr algn="l"/>
                      <a:r>
                        <a:rPr sz="690">
                          <a:solidFill>
                            <a:srgbClr val="111111"/>
                          </a:solidFill>
                          <a:latin typeface="Times New Roman"/>
                          <a:ea typeface="Times New Roman"/>
                          <a:cs typeface="Times New Roman"/>
                        </a:rPr>
                        <a:t>Payment details match, but the amount is over-claimed in the statement. Final credit is reflected only after correction or payment of excess.</a:t>
                      </a:r>
                    </a:p>
                  </a:txBody>
                  <a:tcPr marL="19050" marR="19050" marT="0" marB="0" anchor="ctr"/>
                </a:tc>
              </a:tr>
            </a:tbl>
          </a:graphicData>
        </a:graphic>
      </p:graphicFrame>
      <p:sp>
        <p:nvSpPr>
          <p:cNvPr id="18" name="">
            <a:extLst xmlns:a="http://schemas.openxmlformats.org/drawingml/2006/main">
              <a:ext uri="{FF2B5EF4-FFF2-40B4-BE49-F238E27FC236}">
                <a16:creationId xmlns:a16="http://schemas.microsoft.com/office/drawing/2014/main" id="{E2081240-FDD2-457E-B21F-59799BF6A522}"/>
              </a:ext>
            </a:extLst>
          </p:cNvPr>
          <p:cNvSpPr>
            <a:spLocks xmlns:a="http://schemas.openxmlformats.org/drawingml/2006/main" noGrp="1"/>
          </p:cNvSpPr>
          <p:nvPr/>
        </p:nvSpPr>
        <p:spPr>
          <a:xfrm xmlns:a="http://schemas.openxmlformats.org/drawingml/2006/main" rot="0">
            <a:off x="5810250" y="8629650"/>
            <a:ext cx="990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94512"/>
          </a:bodyPr>
          <a:lstStyle xmlns:a="http://schemas.openxmlformats.org/drawingml/2006/main"/>
          <a:p xmlns:a="http://schemas.openxmlformats.org/drawingml/2006/main">
            <a:pPr algn="ctr">
              <a:lnSpc>
                <a:spcPct val="100000"/>
              </a:lnSpc>
              <a:buNone/>
              <a:defRPr sz="8200" b="1" i="0">
                <a:solidFill>
                  <a:srgbClr val="FFF84D"/>
                </a:solidFill>
                <a:latin typeface="Arial"/>
                <a:ea typeface="Arial"/>
                <a:cs typeface="Arial"/>
              </a:defRPr>
            </a:pPr>
            <a:r>
              <a:rPr sz="8200" b="1" i="0">
                <a:ln w="11430">
                  <a:solidFill>
                    <a:srgbClr val="000000"/>
                  </a:solidFill>
                  <a:prstDash val="solid"/>
                </a:ln>
                <a:solidFill>
                  <a:srgbClr val="FFF84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EA22CD1-5909-4949-93E8-8CF7A4E259E9}"/>
              </a:ext>
            </a:extLst>
          </p:cNvPr>
          <p:cNvSpPr>
            <a:spLocks xmlns:a="http://schemas.openxmlformats.org/drawingml/2006/main" noGrp="1"/>
          </p:cNvSpPr>
          <p:nvPr/>
        </p:nvSpPr>
        <p:spPr>
          <a:xfrm xmlns:a="http://schemas.openxmlformats.org/drawingml/2006/main" rot="0">
            <a:off x="5381625" y="8810625"/>
            <a:ext cx="190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rmAutofit fontScale="100000"/>
          </a:bodyPr>
          <a:lstStyle xmlns:a="http://schemas.openxmlformats.org/drawingml/2006/main"/>
          <a:p xmlns:a="http://schemas.openxmlformats.org/drawingml/2006/main">
            <a:pPr algn="l">
              <a:lnSpc>
                <a:spcPct val="96000"/>
              </a:lnSpc>
              <a:buNone/>
              <a:defRPr sz="1000" b="0" i="0">
                <a:solidFill>
                  <a:srgbClr val="000000"/>
                </a:solidFill>
                <a:latin typeface="Arial"/>
                <a:ea typeface="Arial"/>
                <a:cs typeface="Arial"/>
              </a:defRPr>
            </a:pPr>
            <a:r>
              <a:rPr sz="1000" b="0" i="0">
                <a:solidFill>
                  <a:srgbClr val="000000"/>
                </a:solidFill>
                <a:latin typeface="Arial"/>
                <a:ea typeface="Arial"/>
                <a:cs typeface="Arial"/>
              </a:rPr>
              <a:t>Signature Not Verified</a:t>
            </a:r>
          </a:p>
          <a:p xmlns:a="http://schemas.openxmlformats.org/drawingml/2006/main">
            <a:pPr algn="l">
              <a:lnSpc>
                <a:spcPct val="96000"/>
              </a:lnSpc>
              <a:buNone/>
              <a:defRPr sz="1000" b="0" i="0">
                <a:solidFill>
                  <a:srgbClr val="000000"/>
                </a:solidFill>
                <a:latin typeface="Arial"/>
                <a:ea typeface="Arial"/>
                <a:cs typeface="Arial"/>
              </a:defRPr>
            </a:pPr>
            <a:r>
              <a:rPr sz="1000" b="0" i="0">
                <a:solidFill>
                  <a:srgbClr val="000000"/>
                </a:solidFill>
                <a:latin typeface="Arial"/>
                <a:ea typeface="Arial"/>
                <a:cs typeface="Arial"/>
              </a:rPr>
              <a:t>Digitally signed by PEMARAM</a:t>
            </a:r>
          </a:p>
          <a:p xmlns:a="http://schemas.openxmlformats.org/drawingml/2006/main">
            <a:pPr algn="l">
              <a:lnSpc>
                <a:spcPct val="96000"/>
              </a:lnSpc>
              <a:buNone/>
              <a:defRPr sz="1000" b="0" i="0">
                <a:solidFill>
                  <a:srgbClr val="000000"/>
                </a:solidFill>
                <a:latin typeface="Arial"/>
                <a:ea typeface="Arial"/>
                <a:cs typeface="Arial"/>
              </a:defRPr>
            </a:pPr>
            <a:r>
              <a:rPr sz="1000" b="0" i="0">
                <a:solidFill>
                  <a:srgbClr val="000000"/>
                </a:solidFill>
                <a:latin typeface="Arial"/>
                <a:ea typeface="Arial"/>
                <a:cs typeface="Arial"/>
              </a:rPr>
              <a:t>Date: 2026.05.21 12:07:43</a:t>
            </a:r>
          </a:p>
          <a:p xmlns:a="http://schemas.openxmlformats.org/drawingml/2006/main">
            <a:pPr algn="l">
              <a:lnSpc>
                <a:spcPct val="96000"/>
              </a:lnSpc>
              <a:buNone/>
              <a:defRPr sz="1000" b="0" i="0">
                <a:solidFill>
                  <a:srgbClr val="000000"/>
                </a:solidFill>
                <a:latin typeface="Arial"/>
                <a:ea typeface="Arial"/>
                <a:cs typeface="Arial"/>
              </a:defRPr>
            </a:pPr>
            <a:r>
              <a:rPr sz="1000" b="0" i="0">
                <a:solidFill>
                  <a:srgbClr val="000000"/>
                </a:solidFill>
                <a:latin typeface="Arial"/>
                <a:ea typeface="Arial"/>
                <a:cs typeface="Arial"/>
              </a:rPr>
              <a:t>IST</a:t>
            </a:r>
          </a:p>
        </p:txBody>
      </p:sp>
      <p:sp>
        <p:nvSpPr>
          <p:cNvPr id="20" name="">
            <a:extLst xmlns:a="http://schemas.openxmlformats.org/drawingml/2006/main">
              <a:ext uri="{FF2B5EF4-FFF2-40B4-BE49-F238E27FC236}">
                <a16:creationId xmlns:a16="http://schemas.microsoft.com/office/drawing/2014/main" id="{F926973E-1A7E-4F65-9164-CB2589107309}"/>
              </a:ext>
            </a:extLst>
          </p:cNvPr>
          <p:cNvSpPr>
            <a:spLocks xmlns:a="http://schemas.openxmlformats.org/drawingml/2006/main" noGrp="1"/>
          </p:cNvSpPr>
          <p:nvPr/>
        </p:nvSpPr>
        <p:spPr>
          <a:xfrm xmlns:a="http://schemas.openxmlformats.org/drawingml/2006/main" rot="0">
            <a:off x="5238750" y="98298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rmAutofit fontScale="100000"/>
          </a:bodyPr>
          <a:lstStyle xmlns:a="http://schemas.openxmlformats.org/drawingml/2006/main"/>
          <a:p xmlns:a="http://schemas.openxmlformats.org/drawingml/2006/main">
            <a:pPr algn="r">
              <a:lnSpc>
                <a:spcPct val="100000"/>
              </a:lnSpc>
              <a:buNone/>
              <a:defRPr sz="650" b="1" i="0">
                <a:solidFill>
                  <a:srgbClr val="B91C1C"/>
                </a:solidFill>
                <a:latin typeface="Arial"/>
                <a:ea typeface="Arial"/>
                <a:cs typeface="Arial"/>
              </a:defRPr>
            </a:pPr>
            <a:r>
              <a:rPr sz="650" b="1" i="0">
                <a:solidFill>
                  <a:srgbClr val="B91C1C"/>
                </a:solidFill>
                <a:latin typeface="Arial"/>
                <a:ea typeface="Arial"/>
                <a:cs typeface="Arial"/>
              </a:rPr>
              <a:t>ILLUSTRATIVE DRAFT - NOT DIGITALLY SIGNED</a:t>
            </a:r>
          </a:p>
        </p:txBody>
      </p:sp>
    </p:spTree>
    <p:extLst>
      <p:ext uri="{BB962C8B-B14F-4D97-AF65-F5344CB8AC3E}">
        <p14:creationId xmlns:p14="http://schemas.microsoft.com/office/powerpoint/2010/main" val="10046247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2026-09-28T09:53:56.6730000Z</dcterms:created>
  <dcterms:modified xsi:type="dcterms:W3CDTF">2026-09-28T09:53:56.6730000Z</dcterms:modified>
</coreProperties>
</file>